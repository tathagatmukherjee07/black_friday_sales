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1.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p:bgPr>
    </p:bg>
    <p:spTree>
      <p:nvGrpSpPr>
        <p:cNvPr id="1" name=""/>
        <p:cNvGrpSpPr/>
        <p:nvPr/>
      </p:nvGrpSpPr>
      <p:grpSpPr>
        <a:xfrm>
          <a:off x="0" y="0"/>
          <a:ext cx="0" cy="0"/>
          <a:chOff x="0" y="0"/>
          <a:chExt cx="0" cy="0"/>
        </a:xfrm>
      </p:grpSpPr>
      <p:sp>
        <p:nvSpPr>
          <p:cNvPr id="2" name="Shape 0"/>
          <p:cNvSpPr/>
          <p:nvPr/>
        </p:nvSpPr>
        <p:spPr>
          <a:xfrm>
            <a:off x="8778240" y="-2377440"/>
            <a:ext cx="5669280" cy="5669280"/>
          </a:xfrm>
          <a:prstGeom prst="ellipse">
            <a:avLst/>
          </a:prstGeom>
          <a:solidFill>
            <a:srgbClr val="D7263D">
              <a:alpha val="18000"/>
            </a:srgbClr>
          </a:solidFill>
          <a:ln/>
        </p:spPr>
      </p:sp>
      <p:sp>
        <p:nvSpPr>
          <p:cNvPr id="3" name="Shape 1"/>
          <p:cNvSpPr/>
          <p:nvPr/>
        </p:nvSpPr>
        <p:spPr>
          <a:xfrm>
            <a:off x="-2194560" y="4572000"/>
            <a:ext cx="4206240" cy="4206240"/>
          </a:xfrm>
          <a:prstGeom prst="ellipse">
            <a:avLst/>
          </a:prstGeom>
          <a:solidFill>
            <a:srgbClr val="D7263D">
              <a:alpha val="12000"/>
            </a:srgbClr>
          </a:solidFill>
          <a:ln/>
        </p:spPr>
      </p:sp>
      <p:sp>
        <p:nvSpPr>
          <p:cNvPr id="4" name="Text 2"/>
          <p:cNvSpPr/>
          <p:nvPr/>
        </p:nvSpPr>
        <p:spPr>
          <a:xfrm>
            <a:off x="822960" y="1965960"/>
            <a:ext cx="8229600" cy="365760"/>
          </a:xfrm>
          <a:prstGeom prst="rect">
            <a:avLst/>
          </a:prstGeom>
          <a:noFill/>
          <a:ln/>
        </p:spPr>
        <p:txBody>
          <a:bodyPr wrap="square" lIns="0" tIns="0" rIns="0" bIns="0" rtlCol="0" anchor="ctr"/>
          <a:lstStyle/>
          <a:p>
            <a:pPr indent="0" marL="0">
              <a:buNone/>
            </a:pPr>
            <a:r>
              <a:rPr lang="en-US" sz="1300" b="1" spc="200" kern="0" dirty="0">
                <a:solidFill>
                  <a:srgbClr val="D7263D"/>
                </a:solidFill>
                <a:latin typeface="Calibri" pitchFamily="34" charset="0"/>
                <a:ea typeface="Calibri" pitchFamily="34" charset="-122"/>
                <a:cs typeface="Calibri" pitchFamily="34" charset="-120"/>
              </a:rPr>
              <a:t>CAPSTONE PROJECT  ·  DATA ANALYTICS WITH GENAI</a:t>
            </a:r>
            <a:endParaRPr lang="en-US" sz="1300" dirty="0"/>
          </a:p>
        </p:txBody>
      </p:sp>
      <p:sp>
        <p:nvSpPr>
          <p:cNvPr id="5" name="Text 3"/>
          <p:cNvSpPr/>
          <p:nvPr/>
        </p:nvSpPr>
        <p:spPr>
          <a:xfrm>
            <a:off x="777240" y="2377440"/>
            <a:ext cx="9601200" cy="2103120"/>
          </a:xfrm>
          <a:prstGeom prst="rect">
            <a:avLst/>
          </a:prstGeom>
          <a:noFill/>
          <a:ln/>
        </p:spPr>
        <p:txBody>
          <a:bodyPr wrap="square" lIns="0" tIns="0" rIns="0" bIns="0" rtlCol="0" anchor="ctr"/>
          <a:lstStyle/>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Black Friday</a:t>
            </a:r>
            <a:endParaRPr lang="en-US" sz="4800" dirty="0"/>
          </a:p>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Sales Analysis</a:t>
            </a:r>
            <a:endParaRPr lang="en-US" sz="4800" dirty="0"/>
          </a:p>
        </p:txBody>
      </p:sp>
      <p:sp>
        <p:nvSpPr>
          <p:cNvPr id="6" name="Text 4"/>
          <p:cNvSpPr/>
          <p:nvPr/>
        </p:nvSpPr>
        <p:spPr>
          <a:xfrm>
            <a:off x="822960" y="4434840"/>
            <a:ext cx="8229600" cy="457200"/>
          </a:xfrm>
          <a:prstGeom prst="rect">
            <a:avLst/>
          </a:prstGeom>
          <a:noFill/>
          <a:ln/>
        </p:spPr>
        <p:txBody>
          <a:bodyPr wrap="square" lIns="0" tIns="0" rIns="0" bIns="0" rtlCol="0" anchor="ctr"/>
          <a:lstStyle/>
          <a:p>
            <a:pPr indent="0" marL="0">
              <a:buNone/>
            </a:pPr>
            <a:r>
              <a:rPr lang="en-US" sz="1600" i="1" dirty="0">
                <a:solidFill>
                  <a:srgbClr val="C9C9C9"/>
                </a:solidFill>
                <a:latin typeface="Calibri" pitchFamily="34" charset="0"/>
                <a:ea typeface="Calibri" pitchFamily="34" charset="-122"/>
                <a:cs typeface="Calibri" pitchFamily="34" charset="-120"/>
              </a:rPr>
              <a:t>Turning 550,068 transactions into a data-driven retail strategy</a:t>
            </a:r>
            <a:endParaRPr lang="en-US" sz="1600" dirty="0"/>
          </a:p>
        </p:txBody>
      </p:sp>
      <p:sp>
        <p:nvSpPr>
          <p:cNvPr id="7" name="Shape 5"/>
          <p:cNvSpPr/>
          <p:nvPr/>
        </p:nvSpPr>
        <p:spPr>
          <a:xfrm>
            <a:off x="822960" y="5257800"/>
            <a:ext cx="1005840" cy="0"/>
          </a:xfrm>
          <a:prstGeom prst="line">
            <a:avLst/>
          </a:prstGeom>
          <a:noFill/>
          <a:ln w="38100">
            <a:solidFill>
              <a:srgbClr val="D7263D"/>
            </a:solidFill>
            <a:prstDash val="solid"/>
          </a:ln>
        </p:spPr>
      </p:sp>
      <p:sp>
        <p:nvSpPr>
          <p:cNvPr id="8" name="Text 6"/>
          <p:cNvSpPr/>
          <p:nvPr/>
        </p:nvSpPr>
        <p:spPr>
          <a:xfrm>
            <a:off x="822960" y="539496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Tathagat Mukherjee</a:t>
            </a:r>
            <a:endParaRPr lang="en-US" sz="1600" dirty="0"/>
          </a:p>
        </p:txBody>
      </p:sp>
      <p:sp>
        <p:nvSpPr>
          <p:cNvPr id="9" name="Text 7"/>
          <p:cNvSpPr/>
          <p:nvPr/>
        </p:nvSpPr>
        <p:spPr>
          <a:xfrm>
            <a:off x="822960" y="5742432"/>
            <a:ext cx="5486400" cy="320040"/>
          </a:xfrm>
          <a:prstGeom prst="rect">
            <a:avLst/>
          </a:prstGeom>
          <a:noFill/>
          <a:ln/>
        </p:spPr>
        <p:txBody>
          <a:bodyPr wrap="square" lIns="0" tIns="0" rIns="0" bIns="0" rtlCol="0" anchor="ctr"/>
          <a:lstStyle/>
          <a:p>
            <a:pPr indent="0" marL="0">
              <a:buNone/>
            </a:pPr>
            <a:r>
              <a:rPr lang="en-US" sz="1200" dirty="0">
                <a:solidFill>
                  <a:srgbClr val="999999"/>
                </a:solidFill>
                <a:latin typeface="Calibri" pitchFamily="34" charset="0"/>
                <a:ea typeface="Calibri" pitchFamily="34" charset="-122"/>
                <a:cs typeface="Calibri" pitchFamily="34" charset="-120"/>
              </a:rPr>
              <a:t>Data Analytics Capstone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briefcase.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BUSINESS UNDERSTANDING</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737360"/>
            <a:ext cx="457200" cy="457200"/>
          </a:xfrm>
          <a:prstGeom prst="ellipse">
            <a:avLst/>
          </a:prstGeom>
          <a:solidFill>
            <a:srgbClr val="D7263D"/>
          </a:solidFill>
          <a:ln/>
        </p:spPr>
      </p:sp>
      <p:pic>
        <p:nvPicPr>
          <p:cNvPr id="8" name="Image 1" descr="img/ic_coins.png">    </p:cNvPr>
          <p:cNvPicPr>
            <a:picLocks noChangeAspect="1"/>
          </p:cNvPicPr>
          <p:nvPr/>
        </p:nvPicPr>
        <p:blipFill>
          <a:blip r:embed="rId2"/>
          <a:stretch>
            <a:fillRect/>
          </a:stretch>
        </p:blipFill>
        <p:spPr>
          <a:xfrm>
            <a:off x="786384" y="1792224"/>
            <a:ext cx="347472" cy="347472"/>
          </a:xfrm>
          <a:prstGeom prst="rect">
            <a:avLst/>
          </a:prstGeom>
        </p:spPr>
      </p:pic>
      <p:sp>
        <p:nvSpPr>
          <p:cNvPr id="9" name="Text 5"/>
          <p:cNvSpPr/>
          <p:nvPr/>
        </p:nvSpPr>
        <p:spPr>
          <a:xfrm>
            <a:off x="1389888" y="1682496"/>
            <a:ext cx="10040112" cy="320040"/>
          </a:xfrm>
          <a:prstGeom prst="rect">
            <a:avLst/>
          </a:prstGeom>
          <a:noFill/>
          <a:ln/>
        </p:spPr>
        <p:txBody>
          <a:bodyPr wrap="square" lIns="0" tIns="0" rIns="0" bIns="0" rtlCol="0" anchor="t"/>
          <a:lstStyle/>
          <a:p>
            <a:pPr indent="0" marL="0">
              <a:buNone/>
            </a:pPr>
            <a:r>
              <a:rPr lang="en-US" sz="1500" b="1" dirty="0">
                <a:solidFill>
                  <a:srgbClr val="1A1A1A"/>
                </a:solidFill>
                <a:latin typeface="Cambria" pitchFamily="34" charset="0"/>
                <a:ea typeface="Cambria" pitchFamily="34" charset="-122"/>
                <a:cs typeface="Cambria" pitchFamily="34" charset="-120"/>
              </a:rPr>
              <a:t>Business Context</a:t>
            </a:r>
            <a:endParaRPr lang="en-US" sz="1500" dirty="0"/>
          </a:p>
        </p:txBody>
      </p:sp>
      <p:sp>
        <p:nvSpPr>
          <p:cNvPr id="10" name="Text 6"/>
          <p:cNvSpPr/>
          <p:nvPr/>
        </p:nvSpPr>
        <p:spPr>
          <a:xfrm>
            <a:off x="1389888" y="1993392"/>
            <a:ext cx="10040112" cy="822960"/>
          </a:xfrm>
          <a:prstGeom prst="rect">
            <a:avLst/>
          </a:prstGeom>
          <a:noFill/>
          <a:ln/>
        </p:spPr>
        <p:txBody>
          <a:bodyPr wrap="square" lIns="0" tIns="0" rIns="0" bIns="0" rtlCol="0" anchor="t"/>
          <a:lstStyle/>
          <a:p>
            <a:pPr indent="0" marL="0">
              <a:lnSpc>
                <a:spcPct val="115000"/>
              </a:lnSpc>
              <a:buNone/>
            </a:pPr>
            <a:r>
              <a:rPr lang="en-US" sz="1250" dirty="0">
                <a:solidFill>
                  <a:srgbClr val="6E6E6E"/>
                </a:solidFill>
                <a:latin typeface="Calibri" pitchFamily="34" charset="0"/>
                <a:ea typeface="Calibri" pitchFamily="34" charset="-122"/>
                <a:cs typeface="Calibri" pitchFamily="34" charset="-120"/>
              </a:rPr>
              <a:t>Black Friday is a single high-stakes sales window: millions of shoppers, thousands of products, and immense pressure on pricing, promotions, and inventory — for a retailer spanning both metro and non-metro cities.</a:t>
            </a:r>
            <a:endParaRPr lang="en-US" sz="1250" dirty="0"/>
          </a:p>
        </p:txBody>
      </p:sp>
      <p:sp>
        <p:nvSpPr>
          <p:cNvPr id="11" name="Shape 7"/>
          <p:cNvSpPr/>
          <p:nvPr/>
        </p:nvSpPr>
        <p:spPr>
          <a:xfrm>
            <a:off x="731520" y="3017520"/>
            <a:ext cx="457200" cy="457200"/>
          </a:xfrm>
          <a:prstGeom prst="ellipse">
            <a:avLst/>
          </a:prstGeom>
          <a:solidFill>
            <a:srgbClr val="D7263D"/>
          </a:solidFill>
          <a:ln/>
        </p:spPr>
      </p:sp>
      <p:pic>
        <p:nvPicPr>
          <p:cNvPr id="12" name="Image 2" descr="img/ic_flask.png">    </p:cNvPr>
          <p:cNvPicPr>
            <a:picLocks noChangeAspect="1"/>
          </p:cNvPicPr>
          <p:nvPr/>
        </p:nvPicPr>
        <p:blipFill>
          <a:blip r:embed="rId3"/>
          <a:stretch>
            <a:fillRect/>
          </a:stretch>
        </p:blipFill>
        <p:spPr>
          <a:xfrm>
            <a:off x="786384" y="3072384"/>
            <a:ext cx="347472" cy="347472"/>
          </a:xfrm>
          <a:prstGeom prst="rect">
            <a:avLst/>
          </a:prstGeom>
        </p:spPr>
      </p:pic>
      <p:sp>
        <p:nvSpPr>
          <p:cNvPr id="13" name="Text 8"/>
          <p:cNvSpPr/>
          <p:nvPr/>
        </p:nvSpPr>
        <p:spPr>
          <a:xfrm>
            <a:off x="1389888" y="2962656"/>
            <a:ext cx="10040112" cy="320040"/>
          </a:xfrm>
          <a:prstGeom prst="rect">
            <a:avLst/>
          </a:prstGeom>
          <a:noFill/>
          <a:ln/>
        </p:spPr>
        <p:txBody>
          <a:bodyPr wrap="square" lIns="0" tIns="0" rIns="0" bIns="0" rtlCol="0" anchor="t"/>
          <a:lstStyle/>
          <a:p>
            <a:pPr indent="0" marL="0">
              <a:buNone/>
            </a:pPr>
            <a:r>
              <a:rPr lang="en-US" sz="1500" b="1" dirty="0">
                <a:solidFill>
                  <a:srgbClr val="1A1A1A"/>
                </a:solidFill>
                <a:latin typeface="Cambria" pitchFamily="34" charset="0"/>
                <a:ea typeface="Cambria" pitchFamily="34" charset="-122"/>
                <a:cs typeface="Cambria" pitchFamily="34" charset="-120"/>
              </a:rPr>
              <a:t>Key Challenges</a:t>
            </a:r>
            <a:endParaRPr lang="en-US" sz="1500" dirty="0"/>
          </a:p>
        </p:txBody>
      </p:sp>
      <p:sp>
        <p:nvSpPr>
          <p:cNvPr id="14" name="Text 9"/>
          <p:cNvSpPr/>
          <p:nvPr/>
        </p:nvSpPr>
        <p:spPr>
          <a:xfrm>
            <a:off x="1389888" y="3273552"/>
            <a:ext cx="10040112" cy="822960"/>
          </a:xfrm>
          <a:prstGeom prst="rect">
            <a:avLst/>
          </a:prstGeom>
          <a:noFill/>
          <a:ln/>
        </p:spPr>
        <p:txBody>
          <a:bodyPr wrap="square" lIns="0" tIns="0" rIns="0" bIns="0" rtlCol="0" anchor="t"/>
          <a:lstStyle/>
          <a:p>
            <a:pPr indent="0" marL="0">
              <a:lnSpc>
                <a:spcPct val="115000"/>
              </a:lnSpc>
              <a:buNone/>
            </a:pPr>
            <a:r>
              <a:rPr lang="en-US" sz="1250" dirty="0">
                <a:solidFill>
                  <a:srgbClr val="6E6E6E"/>
                </a:solidFill>
                <a:latin typeface="Calibri" pitchFamily="34" charset="0"/>
                <a:ea typeface="Calibri" pitchFamily="34" charset="-122"/>
                <a:cs typeface="Calibri" pitchFamily="34" charset="-120"/>
              </a:rPr>
              <a:t>Fragmented customer behavior across age, occupation, and marital status  ·  Uneven city-level purchasing power  ·  Unpredictable product-category demand  ·  Unclear return on promotional spend.</a:t>
            </a:r>
            <a:endParaRPr lang="en-US" sz="1250" dirty="0"/>
          </a:p>
        </p:txBody>
      </p:sp>
      <p:sp>
        <p:nvSpPr>
          <p:cNvPr id="15" name="Shape 10"/>
          <p:cNvSpPr/>
          <p:nvPr/>
        </p:nvSpPr>
        <p:spPr>
          <a:xfrm>
            <a:off x="731520" y="4297680"/>
            <a:ext cx="457200" cy="457200"/>
          </a:xfrm>
          <a:prstGeom prst="ellipse">
            <a:avLst/>
          </a:prstGeom>
          <a:solidFill>
            <a:srgbClr val="D7263D"/>
          </a:solidFill>
          <a:ln/>
        </p:spPr>
      </p:sp>
      <p:pic>
        <p:nvPicPr>
          <p:cNvPr id="16" name="Image 3" descr="img/ic_target.png">    </p:cNvPr>
          <p:cNvPicPr>
            <a:picLocks noChangeAspect="1"/>
          </p:cNvPicPr>
          <p:nvPr/>
        </p:nvPicPr>
        <p:blipFill>
          <a:blip r:embed="rId4"/>
          <a:stretch>
            <a:fillRect/>
          </a:stretch>
        </p:blipFill>
        <p:spPr>
          <a:xfrm>
            <a:off x="786384" y="4352544"/>
            <a:ext cx="347472" cy="347472"/>
          </a:xfrm>
          <a:prstGeom prst="rect">
            <a:avLst/>
          </a:prstGeom>
        </p:spPr>
      </p:pic>
      <p:sp>
        <p:nvSpPr>
          <p:cNvPr id="17" name="Text 11"/>
          <p:cNvSpPr/>
          <p:nvPr/>
        </p:nvSpPr>
        <p:spPr>
          <a:xfrm>
            <a:off x="1389888" y="4242816"/>
            <a:ext cx="10040112" cy="320040"/>
          </a:xfrm>
          <a:prstGeom prst="rect">
            <a:avLst/>
          </a:prstGeom>
          <a:noFill/>
          <a:ln/>
        </p:spPr>
        <p:txBody>
          <a:bodyPr wrap="square" lIns="0" tIns="0" rIns="0" bIns="0" rtlCol="0" anchor="t"/>
          <a:lstStyle/>
          <a:p>
            <a:pPr indent="0" marL="0">
              <a:buNone/>
            </a:pPr>
            <a:r>
              <a:rPr lang="en-US" sz="1500" b="1" dirty="0">
                <a:solidFill>
                  <a:srgbClr val="1A1A1A"/>
                </a:solidFill>
                <a:latin typeface="Cambria" pitchFamily="34" charset="0"/>
                <a:ea typeface="Cambria" pitchFamily="34" charset="-122"/>
                <a:cs typeface="Cambria" pitchFamily="34" charset="-120"/>
              </a:rPr>
              <a:t>Analytical Objectives</a:t>
            </a:r>
            <a:endParaRPr lang="en-US" sz="1500" dirty="0"/>
          </a:p>
        </p:txBody>
      </p:sp>
      <p:sp>
        <p:nvSpPr>
          <p:cNvPr id="18" name="Text 12"/>
          <p:cNvSpPr/>
          <p:nvPr/>
        </p:nvSpPr>
        <p:spPr>
          <a:xfrm>
            <a:off x="1389888" y="4553712"/>
            <a:ext cx="10040112" cy="822960"/>
          </a:xfrm>
          <a:prstGeom prst="rect">
            <a:avLst/>
          </a:prstGeom>
          <a:noFill/>
          <a:ln/>
        </p:spPr>
        <p:txBody>
          <a:bodyPr wrap="square" lIns="0" tIns="0" rIns="0" bIns="0" rtlCol="0" anchor="t"/>
          <a:lstStyle/>
          <a:p>
            <a:pPr indent="0" marL="0">
              <a:lnSpc>
                <a:spcPct val="115000"/>
              </a:lnSpc>
              <a:buNone/>
            </a:pPr>
            <a:r>
              <a:rPr lang="en-US" sz="1250" dirty="0">
                <a:solidFill>
                  <a:srgbClr val="6E6E6E"/>
                </a:solidFill>
                <a:latin typeface="Calibri" pitchFamily="34" charset="0"/>
                <a:ea typeface="Calibri" pitchFamily="34" charset="-122"/>
                <a:cs typeface="Calibri" pitchFamily="34" charset="-120"/>
              </a:rPr>
              <a:t>Identify high-value and underpenetrated customer segments  ·  Quantify how demographics shape spend  ·  Surface top-performing categories and cross-sell opportunities  ·  Recommend a data-backed retention strategy.</a:t>
            </a:r>
            <a:endParaRPr lang="en-US" sz="1250" dirty="0"/>
          </a:p>
        </p:txBody>
      </p:sp>
      <p:sp>
        <p:nvSpPr>
          <p:cNvPr id="19" name="Text 13"/>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database.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DATASET OVERVIEW</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783080"/>
            <a:ext cx="2514600" cy="1600200"/>
          </a:xfrm>
          <a:prstGeom prst="roundRect">
            <a:avLst>
              <a:gd name="adj" fmla="val 5143"/>
            </a:avLst>
          </a:prstGeom>
          <a:solidFill>
            <a:srgbClr val="F7F5F3"/>
          </a:solidFill>
          <a:ln/>
          <a:effectLst>
            <a:outerShdw sx="100000" sy="100000" kx="0" ky="0" algn="bl" rotWithShape="0" blurRad="76200" dist="25400" dir="5400000">
              <a:srgbClr val="000000">
                <a:alpha val="12000"/>
              </a:srgbClr>
            </a:outerShdw>
          </a:effectLst>
        </p:spPr>
      </p:sp>
      <p:sp>
        <p:nvSpPr>
          <p:cNvPr id="8" name="Text 5"/>
          <p:cNvSpPr/>
          <p:nvPr/>
        </p:nvSpPr>
        <p:spPr>
          <a:xfrm>
            <a:off x="841248" y="1929384"/>
            <a:ext cx="2295144" cy="94183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550,068</a:t>
            </a:r>
            <a:endParaRPr lang="en-US" sz="2500" dirty="0"/>
          </a:p>
        </p:txBody>
      </p:sp>
      <p:sp>
        <p:nvSpPr>
          <p:cNvPr id="9" name="Text 6"/>
          <p:cNvSpPr/>
          <p:nvPr/>
        </p:nvSpPr>
        <p:spPr>
          <a:xfrm>
            <a:off x="841248" y="2880360"/>
            <a:ext cx="2295144"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Transactions</a:t>
            </a:r>
            <a:endParaRPr lang="en-US" sz="1100" dirty="0"/>
          </a:p>
        </p:txBody>
      </p:sp>
      <p:sp>
        <p:nvSpPr>
          <p:cNvPr id="10" name="Shape 7"/>
          <p:cNvSpPr/>
          <p:nvPr/>
        </p:nvSpPr>
        <p:spPr>
          <a:xfrm>
            <a:off x="3474720" y="1783080"/>
            <a:ext cx="2514600" cy="1600200"/>
          </a:xfrm>
          <a:prstGeom prst="roundRect">
            <a:avLst>
              <a:gd name="adj" fmla="val 5143"/>
            </a:avLst>
          </a:prstGeom>
          <a:solidFill>
            <a:srgbClr val="F7F5F3"/>
          </a:solidFill>
          <a:ln/>
          <a:effectLst>
            <a:outerShdw sx="100000" sy="100000" kx="0" ky="0" algn="bl" rotWithShape="0" blurRad="76200" dist="25400" dir="5400000">
              <a:srgbClr val="000000">
                <a:alpha val="12000"/>
              </a:srgbClr>
            </a:outerShdw>
          </a:effectLst>
        </p:spPr>
      </p:sp>
      <p:sp>
        <p:nvSpPr>
          <p:cNvPr id="11" name="Text 8"/>
          <p:cNvSpPr/>
          <p:nvPr/>
        </p:nvSpPr>
        <p:spPr>
          <a:xfrm>
            <a:off x="3584448" y="1929384"/>
            <a:ext cx="2295144" cy="94183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12</a:t>
            </a:r>
            <a:endParaRPr lang="en-US" sz="2500" dirty="0"/>
          </a:p>
        </p:txBody>
      </p:sp>
      <p:sp>
        <p:nvSpPr>
          <p:cNvPr id="12" name="Text 9"/>
          <p:cNvSpPr/>
          <p:nvPr/>
        </p:nvSpPr>
        <p:spPr>
          <a:xfrm>
            <a:off x="3584448" y="2880360"/>
            <a:ext cx="2295144"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Columns</a:t>
            </a:r>
            <a:endParaRPr lang="en-US" sz="1100" dirty="0"/>
          </a:p>
        </p:txBody>
      </p:sp>
      <p:sp>
        <p:nvSpPr>
          <p:cNvPr id="13" name="Shape 10"/>
          <p:cNvSpPr/>
          <p:nvPr/>
        </p:nvSpPr>
        <p:spPr>
          <a:xfrm>
            <a:off x="6217920" y="1783080"/>
            <a:ext cx="2514600" cy="1600200"/>
          </a:xfrm>
          <a:prstGeom prst="roundRect">
            <a:avLst>
              <a:gd name="adj" fmla="val 5143"/>
            </a:avLst>
          </a:prstGeom>
          <a:solidFill>
            <a:srgbClr val="F7F5F3"/>
          </a:solidFill>
          <a:ln/>
          <a:effectLst>
            <a:outerShdw sx="100000" sy="100000" kx="0" ky="0" algn="bl" rotWithShape="0" blurRad="76200" dist="25400" dir="5400000">
              <a:srgbClr val="000000">
                <a:alpha val="12000"/>
              </a:srgbClr>
            </a:outerShdw>
          </a:effectLst>
        </p:spPr>
      </p:sp>
      <p:sp>
        <p:nvSpPr>
          <p:cNvPr id="14" name="Text 11"/>
          <p:cNvSpPr/>
          <p:nvPr/>
        </p:nvSpPr>
        <p:spPr>
          <a:xfrm>
            <a:off x="6327648" y="1929384"/>
            <a:ext cx="2295144" cy="94183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5,891</a:t>
            </a:r>
            <a:endParaRPr lang="en-US" sz="2500" dirty="0"/>
          </a:p>
        </p:txBody>
      </p:sp>
      <p:sp>
        <p:nvSpPr>
          <p:cNvPr id="15" name="Text 12"/>
          <p:cNvSpPr/>
          <p:nvPr/>
        </p:nvSpPr>
        <p:spPr>
          <a:xfrm>
            <a:off x="6327648" y="2880360"/>
            <a:ext cx="2295144"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Unique Customers</a:t>
            </a:r>
            <a:endParaRPr lang="en-US" sz="1100" dirty="0"/>
          </a:p>
        </p:txBody>
      </p:sp>
      <p:sp>
        <p:nvSpPr>
          <p:cNvPr id="16" name="Shape 13"/>
          <p:cNvSpPr/>
          <p:nvPr/>
        </p:nvSpPr>
        <p:spPr>
          <a:xfrm>
            <a:off x="8961120" y="1783080"/>
            <a:ext cx="2514600" cy="1600200"/>
          </a:xfrm>
          <a:prstGeom prst="roundRect">
            <a:avLst>
              <a:gd name="adj" fmla="val 5143"/>
            </a:avLst>
          </a:prstGeom>
          <a:solidFill>
            <a:srgbClr val="F7F5F3"/>
          </a:solidFill>
          <a:ln/>
          <a:effectLst>
            <a:outerShdw sx="100000" sy="100000" kx="0" ky="0" algn="bl" rotWithShape="0" blurRad="76200" dist="25400" dir="5400000">
              <a:srgbClr val="000000">
                <a:alpha val="12000"/>
              </a:srgbClr>
            </a:outerShdw>
          </a:effectLst>
        </p:spPr>
      </p:sp>
      <p:sp>
        <p:nvSpPr>
          <p:cNvPr id="17" name="Text 14"/>
          <p:cNvSpPr/>
          <p:nvPr/>
        </p:nvSpPr>
        <p:spPr>
          <a:xfrm>
            <a:off x="9070848" y="1929384"/>
            <a:ext cx="2295144" cy="94183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3,631</a:t>
            </a:r>
            <a:endParaRPr lang="en-US" sz="2500" dirty="0"/>
          </a:p>
        </p:txBody>
      </p:sp>
      <p:sp>
        <p:nvSpPr>
          <p:cNvPr id="18" name="Text 15"/>
          <p:cNvSpPr/>
          <p:nvPr/>
        </p:nvSpPr>
        <p:spPr>
          <a:xfrm>
            <a:off x="9070848" y="2880360"/>
            <a:ext cx="2295144"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Unique Products</a:t>
            </a:r>
            <a:endParaRPr lang="en-US" sz="1100" dirty="0"/>
          </a:p>
        </p:txBody>
      </p:sp>
      <p:sp>
        <p:nvSpPr>
          <p:cNvPr id="19" name="Text 16"/>
          <p:cNvSpPr/>
          <p:nvPr/>
        </p:nvSpPr>
        <p:spPr>
          <a:xfrm>
            <a:off x="731520" y="3794760"/>
            <a:ext cx="5486400" cy="36576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What the data captures</a:t>
            </a:r>
            <a:endParaRPr lang="en-US" sz="1500" dirty="0"/>
          </a:p>
        </p:txBody>
      </p:sp>
      <p:sp>
        <p:nvSpPr>
          <p:cNvPr id="20" name="Text 17"/>
          <p:cNvSpPr/>
          <p:nvPr/>
        </p:nvSpPr>
        <p:spPr>
          <a:xfrm>
            <a:off x="731520" y="4206240"/>
            <a:ext cx="10241280" cy="173736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6E6E6E"/>
                </a:solidFill>
                <a:latin typeface="Calibri" pitchFamily="34" charset="0"/>
                <a:ea typeface="Calibri" pitchFamily="34" charset="-122"/>
                <a:cs typeface="Calibri" pitchFamily="34" charset="-120"/>
              </a:rPr>
              <a:t>Customer demographics — gender, age band, occupation code, marital status</a:t>
            </a:r>
            <a:endParaRPr lang="en-US" sz="1350" dirty="0"/>
          </a:p>
          <a:p>
            <a:pPr marL="342900" indent="-342900">
              <a:spcAft>
                <a:spcPts val="1000"/>
              </a:spcAft>
              <a:buSzPct val="100000"/>
              <a:buChar char="▪"/>
            </a:pPr>
            <a:r>
              <a:rPr lang="en-US" sz="1350" dirty="0">
                <a:solidFill>
                  <a:srgbClr val="6E6E6E"/>
                </a:solidFill>
                <a:latin typeface="Calibri" pitchFamily="34" charset="0"/>
                <a:ea typeface="Calibri" pitchFamily="34" charset="-122"/>
                <a:cs typeface="Calibri" pitchFamily="34" charset="-120"/>
              </a:rPr>
              <a:t>City context — city category (A/B/C) and years in current city</a:t>
            </a:r>
            <a:endParaRPr lang="en-US" sz="1350" dirty="0"/>
          </a:p>
          <a:p>
            <a:pPr marL="342900" indent="-342900">
              <a:spcAft>
                <a:spcPts val="1000"/>
              </a:spcAft>
              <a:buSzPct val="100000"/>
              <a:buChar char="▪"/>
            </a:pPr>
            <a:r>
              <a:rPr lang="en-US" sz="1350" dirty="0">
                <a:solidFill>
                  <a:srgbClr val="6E6E6E"/>
                </a:solidFill>
                <a:latin typeface="Calibri" pitchFamily="34" charset="0"/>
                <a:ea typeface="Calibri" pitchFamily="34" charset="-122"/>
                <a:cs typeface="Calibri" pitchFamily="34" charset="-120"/>
              </a:rPr>
              <a:t>Product hierarchy — up to 3 product-category levels per transaction</a:t>
            </a:r>
            <a:endParaRPr lang="en-US" sz="1350" dirty="0"/>
          </a:p>
          <a:p>
            <a:pPr marL="342900" indent="-342900">
              <a:spcAft>
                <a:spcPts val="1000"/>
              </a:spcAft>
              <a:buSzPct val="100000"/>
              <a:buChar char="▪"/>
            </a:pPr>
            <a:r>
              <a:rPr lang="en-US" sz="1350" dirty="0">
                <a:solidFill>
                  <a:srgbClr val="6E6E6E"/>
                </a:solidFill>
                <a:latin typeface="Calibri" pitchFamily="34" charset="0"/>
                <a:ea typeface="Calibri" pitchFamily="34" charset="-122"/>
                <a:cs typeface="Calibri" pitchFamily="34" charset="-120"/>
              </a:rPr>
              <a:t>Purchase amount — the transaction-level target variable</a:t>
            </a:r>
            <a:endParaRPr lang="en-US" sz="1350" dirty="0"/>
          </a:p>
        </p:txBody>
      </p:sp>
      <p:sp>
        <p:nvSpPr>
          <p:cNvPr id="21" name="Text 18"/>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broom.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DATA QUALITY &amp; CLEANING</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783080"/>
            <a:ext cx="5257800" cy="1920240"/>
          </a:xfrm>
          <a:prstGeom prst="roundRect">
            <a:avLst>
              <a:gd name="adj" fmla="val 3810"/>
            </a:avLst>
          </a:prstGeom>
          <a:solidFill>
            <a:srgbClr val="F7F5F3"/>
          </a:solidFill>
          <a:ln/>
        </p:spPr>
      </p:sp>
      <p:sp>
        <p:nvSpPr>
          <p:cNvPr id="8" name="Shape 5"/>
          <p:cNvSpPr/>
          <p:nvPr/>
        </p:nvSpPr>
        <p:spPr>
          <a:xfrm>
            <a:off x="987552" y="2039112"/>
            <a:ext cx="502920" cy="502920"/>
          </a:xfrm>
          <a:prstGeom prst="ellipse">
            <a:avLst/>
          </a:prstGeom>
          <a:solidFill>
            <a:srgbClr val="D7263D"/>
          </a:solidFill>
          <a:ln/>
        </p:spPr>
      </p:sp>
      <p:pic>
        <p:nvPicPr>
          <p:cNvPr id="9" name="Image 1" descr="img/ic_gauge.png">    </p:cNvPr>
          <p:cNvPicPr>
            <a:picLocks noChangeAspect="1"/>
          </p:cNvPicPr>
          <p:nvPr/>
        </p:nvPicPr>
        <p:blipFill>
          <a:blip r:embed="rId2"/>
          <a:stretch>
            <a:fillRect/>
          </a:stretch>
        </p:blipFill>
        <p:spPr>
          <a:xfrm>
            <a:off x="1047902" y="2099462"/>
            <a:ext cx="382219" cy="382219"/>
          </a:xfrm>
          <a:prstGeom prst="rect">
            <a:avLst/>
          </a:prstGeom>
        </p:spPr>
      </p:pic>
      <p:sp>
        <p:nvSpPr>
          <p:cNvPr id="10" name="Text 6"/>
          <p:cNvSpPr/>
          <p:nvPr/>
        </p:nvSpPr>
        <p:spPr>
          <a:xfrm>
            <a:off x="1645920" y="2002536"/>
            <a:ext cx="411480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Missing Values</a:t>
            </a:r>
            <a:endParaRPr lang="en-US" sz="1400" dirty="0"/>
          </a:p>
        </p:txBody>
      </p:sp>
      <p:sp>
        <p:nvSpPr>
          <p:cNvPr id="11" name="Text 7"/>
          <p:cNvSpPr/>
          <p:nvPr/>
        </p:nvSpPr>
        <p:spPr>
          <a:xfrm>
            <a:off x="987552" y="2560320"/>
            <a:ext cx="4745736" cy="9601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Product_Category_2 was missing in ~32% of rows and Product_Category_3 in ~70% — expected, since not every product carries a secondary or tertiary category.</a:t>
            </a:r>
            <a:endParaRPr lang="en-US" sz="1150" dirty="0"/>
          </a:p>
        </p:txBody>
      </p:sp>
      <p:sp>
        <p:nvSpPr>
          <p:cNvPr id="12" name="Shape 8"/>
          <p:cNvSpPr/>
          <p:nvPr/>
        </p:nvSpPr>
        <p:spPr>
          <a:xfrm>
            <a:off x="6400800" y="1783080"/>
            <a:ext cx="5257800" cy="1920240"/>
          </a:xfrm>
          <a:prstGeom prst="roundRect">
            <a:avLst>
              <a:gd name="adj" fmla="val 3810"/>
            </a:avLst>
          </a:prstGeom>
          <a:solidFill>
            <a:srgbClr val="F7F5F3"/>
          </a:solidFill>
          <a:ln/>
        </p:spPr>
      </p:sp>
      <p:sp>
        <p:nvSpPr>
          <p:cNvPr id="13" name="Shape 9"/>
          <p:cNvSpPr/>
          <p:nvPr/>
        </p:nvSpPr>
        <p:spPr>
          <a:xfrm>
            <a:off x="6656832" y="2039112"/>
            <a:ext cx="502920" cy="502920"/>
          </a:xfrm>
          <a:prstGeom prst="ellipse">
            <a:avLst/>
          </a:prstGeom>
          <a:solidFill>
            <a:srgbClr val="D7263D"/>
          </a:solidFill>
          <a:ln/>
        </p:spPr>
      </p:sp>
      <p:pic>
        <p:nvPicPr>
          <p:cNvPr id="14" name="Image 2" descr="img/ic_chartbar.png">    </p:cNvPr>
          <p:cNvPicPr>
            <a:picLocks noChangeAspect="1"/>
          </p:cNvPicPr>
          <p:nvPr/>
        </p:nvPicPr>
        <p:blipFill>
          <a:blip r:embed="rId3"/>
          <a:stretch>
            <a:fillRect/>
          </a:stretch>
        </p:blipFill>
        <p:spPr>
          <a:xfrm>
            <a:off x="6717182" y="2099462"/>
            <a:ext cx="382219" cy="382219"/>
          </a:xfrm>
          <a:prstGeom prst="rect">
            <a:avLst/>
          </a:prstGeom>
        </p:spPr>
      </p:pic>
      <p:sp>
        <p:nvSpPr>
          <p:cNvPr id="15" name="Text 10"/>
          <p:cNvSpPr/>
          <p:nvPr/>
        </p:nvSpPr>
        <p:spPr>
          <a:xfrm>
            <a:off x="7315200" y="2002536"/>
            <a:ext cx="411480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Data Validation</a:t>
            </a:r>
            <a:endParaRPr lang="en-US" sz="1400" dirty="0"/>
          </a:p>
        </p:txBody>
      </p:sp>
      <p:sp>
        <p:nvSpPr>
          <p:cNvPr id="16" name="Text 11"/>
          <p:cNvSpPr/>
          <p:nvPr/>
        </p:nvSpPr>
        <p:spPr>
          <a:xfrm>
            <a:off x="6656832" y="2560320"/>
            <a:ext cx="4745736" cy="9601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Excel conditional formatting was used to check key fields (User_ID, Product_ID, Purchase), flag Purchase outliers, and confirm categorical columns had no inconsistent entries.</a:t>
            </a:r>
            <a:endParaRPr lang="en-US" sz="1150" dirty="0"/>
          </a:p>
        </p:txBody>
      </p:sp>
      <p:sp>
        <p:nvSpPr>
          <p:cNvPr id="17" name="Shape 12"/>
          <p:cNvSpPr/>
          <p:nvPr/>
        </p:nvSpPr>
        <p:spPr>
          <a:xfrm>
            <a:off x="731520" y="3931920"/>
            <a:ext cx="5257800" cy="1920240"/>
          </a:xfrm>
          <a:prstGeom prst="roundRect">
            <a:avLst>
              <a:gd name="adj" fmla="val 3810"/>
            </a:avLst>
          </a:prstGeom>
          <a:solidFill>
            <a:srgbClr val="F7F5F3"/>
          </a:solidFill>
          <a:ln/>
        </p:spPr>
      </p:sp>
      <p:sp>
        <p:nvSpPr>
          <p:cNvPr id="18" name="Shape 13"/>
          <p:cNvSpPr/>
          <p:nvPr/>
        </p:nvSpPr>
        <p:spPr>
          <a:xfrm>
            <a:off x="987552" y="4187952"/>
            <a:ext cx="502920" cy="502920"/>
          </a:xfrm>
          <a:prstGeom prst="ellipse">
            <a:avLst/>
          </a:prstGeom>
          <a:solidFill>
            <a:srgbClr val="D7263D"/>
          </a:solidFill>
          <a:ln/>
        </p:spPr>
      </p:sp>
      <p:pic>
        <p:nvPicPr>
          <p:cNvPr id="19" name="Image 3" descr="img/ic_layers.png">    </p:cNvPr>
          <p:cNvPicPr>
            <a:picLocks noChangeAspect="1"/>
          </p:cNvPicPr>
          <p:nvPr/>
        </p:nvPicPr>
        <p:blipFill>
          <a:blip r:embed="rId4"/>
          <a:stretch>
            <a:fillRect/>
          </a:stretch>
        </p:blipFill>
        <p:spPr>
          <a:xfrm>
            <a:off x="1047902" y="4248302"/>
            <a:ext cx="382219" cy="382219"/>
          </a:xfrm>
          <a:prstGeom prst="rect">
            <a:avLst/>
          </a:prstGeom>
        </p:spPr>
      </p:pic>
      <p:sp>
        <p:nvSpPr>
          <p:cNvPr id="20" name="Text 14"/>
          <p:cNvSpPr/>
          <p:nvPr/>
        </p:nvSpPr>
        <p:spPr>
          <a:xfrm>
            <a:off x="1645920" y="4151376"/>
            <a:ext cx="411480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Treatment of Category 2 &amp; 3</a:t>
            </a:r>
            <a:endParaRPr lang="en-US" sz="1400" dirty="0"/>
          </a:p>
        </p:txBody>
      </p:sp>
      <p:sp>
        <p:nvSpPr>
          <p:cNvPr id="21" name="Text 15"/>
          <p:cNvSpPr/>
          <p:nvPr/>
        </p:nvSpPr>
        <p:spPr>
          <a:xfrm>
            <a:off x="987552" y="4709160"/>
            <a:ext cx="4745736" cy="9601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Blanks were deliberately converted to true NULLs during SQL load (via NULLIF) rather than imputed — preserving the honest signal that no category was recorded.</a:t>
            </a:r>
            <a:endParaRPr lang="en-US" sz="1150" dirty="0"/>
          </a:p>
        </p:txBody>
      </p:sp>
      <p:sp>
        <p:nvSpPr>
          <p:cNvPr id="22" name="Shape 16"/>
          <p:cNvSpPr/>
          <p:nvPr/>
        </p:nvSpPr>
        <p:spPr>
          <a:xfrm>
            <a:off x="6400800" y="3931920"/>
            <a:ext cx="5257800" cy="1920240"/>
          </a:xfrm>
          <a:prstGeom prst="roundRect">
            <a:avLst>
              <a:gd name="adj" fmla="val 3810"/>
            </a:avLst>
          </a:prstGeom>
          <a:solidFill>
            <a:srgbClr val="F7F5F3"/>
          </a:solidFill>
          <a:ln/>
        </p:spPr>
      </p:sp>
      <p:sp>
        <p:nvSpPr>
          <p:cNvPr id="23" name="Shape 17"/>
          <p:cNvSpPr/>
          <p:nvPr/>
        </p:nvSpPr>
        <p:spPr>
          <a:xfrm>
            <a:off x="6656832" y="4187952"/>
            <a:ext cx="502920" cy="502920"/>
          </a:xfrm>
          <a:prstGeom prst="ellipse">
            <a:avLst/>
          </a:prstGeom>
          <a:solidFill>
            <a:srgbClr val="D7263D"/>
          </a:solidFill>
          <a:ln/>
        </p:spPr>
      </p:sp>
      <p:pic>
        <p:nvPicPr>
          <p:cNvPr id="24" name="Image 4" descr="img/ic_broom.png">    </p:cNvPr>
          <p:cNvPicPr>
            <a:picLocks noChangeAspect="1"/>
          </p:cNvPicPr>
          <p:nvPr/>
        </p:nvPicPr>
        <p:blipFill>
          <a:blip r:embed="rId5"/>
          <a:stretch>
            <a:fillRect/>
          </a:stretch>
        </p:blipFill>
        <p:spPr>
          <a:xfrm>
            <a:off x="6717182" y="4248302"/>
            <a:ext cx="382219" cy="382219"/>
          </a:xfrm>
          <a:prstGeom prst="rect">
            <a:avLst/>
          </a:prstGeom>
        </p:spPr>
      </p:pic>
      <p:sp>
        <p:nvSpPr>
          <p:cNvPr id="25" name="Text 18"/>
          <p:cNvSpPr/>
          <p:nvPr/>
        </p:nvSpPr>
        <p:spPr>
          <a:xfrm>
            <a:off x="7315200" y="4151376"/>
            <a:ext cx="411480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Other Cleaning Performed</a:t>
            </a:r>
            <a:endParaRPr lang="en-US" sz="1400" dirty="0"/>
          </a:p>
        </p:txBody>
      </p:sp>
      <p:sp>
        <p:nvSpPr>
          <p:cNvPr id="26" name="Text 19"/>
          <p:cNvSpPr/>
          <p:nvPr/>
        </p:nvSpPr>
        <p:spPr>
          <a:xfrm>
            <a:off x="6656832" y="4709160"/>
            <a:ext cx="4745736" cy="9601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Verified zero duplicate rows, confirmed all Age / Gender / City / Tenure values were clean, and validated the final row count (550,068) after load.</a:t>
            </a:r>
            <a:endParaRPr lang="en-US" sz="1150" dirty="0"/>
          </a:p>
        </p:txBody>
      </p:sp>
      <p:sp>
        <p:nvSpPr>
          <p:cNvPr id="27" name="Text 20"/>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chartbar.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KPI OVERVIEW</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828800"/>
            <a:ext cx="2048256" cy="1554480"/>
          </a:xfrm>
          <a:prstGeom prst="roundRect">
            <a:avLst>
              <a:gd name="adj" fmla="val 5294"/>
            </a:avLst>
          </a:prstGeom>
          <a:solidFill>
            <a:srgbClr val="F7F5F3"/>
          </a:solidFill>
          <a:ln/>
          <a:effectLst>
            <a:outerShdw sx="100000" sy="100000" kx="0" ky="0" algn="bl" rotWithShape="0" blurRad="76200" dist="25400" dir="5400000">
              <a:srgbClr val="000000">
                <a:alpha val="12000"/>
              </a:srgbClr>
            </a:outerShdw>
          </a:effectLst>
        </p:spPr>
      </p:sp>
      <p:sp>
        <p:nvSpPr>
          <p:cNvPr id="8" name="Text 5"/>
          <p:cNvSpPr/>
          <p:nvPr/>
        </p:nvSpPr>
        <p:spPr>
          <a:xfrm>
            <a:off x="841248" y="1975104"/>
            <a:ext cx="1828800" cy="89611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₹5.09B</a:t>
            </a:r>
            <a:endParaRPr lang="en-US" sz="2500" dirty="0"/>
          </a:p>
        </p:txBody>
      </p:sp>
      <p:sp>
        <p:nvSpPr>
          <p:cNvPr id="9" name="Text 6"/>
          <p:cNvSpPr/>
          <p:nvPr/>
        </p:nvSpPr>
        <p:spPr>
          <a:xfrm>
            <a:off x="841248" y="2880360"/>
            <a:ext cx="1828800"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Total Sales</a:t>
            </a:r>
            <a:endParaRPr lang="en-US" sz="1100" dirty="0"/>
          </a:p>
        </p:txBody>
      </p:sp>
      <p:sp>
        <p:nvSpPr>
          <p:cNvPr id="10" name="Shape 7"/>
          <p:cNvSpPr/>
          <p:nvPr/>
        </p:nvSpPr>
        <p:spPr>
          <a:xfrm>
            <a:off x="2962656" y="1828800"/>
            <a:ext cx="2048256" cy="1554480"/>
          </a:xfrm>
          <a:prstGeom prst="roundRect">
            <a:avLst>
              <a:gd name="adj" fmla="val 5294"/>
            </a:avLst>
          </a:prstGeom>
          <a:solidFill>
            <a:srgbClr val="F7F5F3"/>
          </a:solidFill>
          <a:ln/>
          <a:effectLst>
            <a:outerShdw sx="100000" sy="100000" kx="0" ky="0" algn="bl" rotWithShape="0" blurRad="76200" dist="25400" dir="5400000">
              <a:srgbClr val="000000">
                <a:alpha val="12000"/>
              </a:srgbClr>
            </a:outerShdw>
          </a:effectLst>
        </p:spPr>
      </p:sp>
      <p:sp>
        <p:nvSpPr>
          <p:cNvPr id="11" name="Text 8"/>
          <p:cNvSpPr/>
          <p:nvPr/>
        </p:nvSpPr>
        <p:spPr>
          <a:xfrm>
            <a:off x="3072384" y="1975104"/>
            <a:ext cx="1828800" cy="89611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₹9,264</a:t>
            </a:r>
            <a:endParaRPr lang="en-US" sz="2500" dirty="0"/>
          </a:p>
        </p:txBody>
      </p:sp>
      <p:sp>
        <p:nvSpPr>
          <p:cNvPr id="12" name="Text 9"/>
          <p:cNvSpPr/>
          <p:nvPr/>
        </p:nvSpPr>
        <p:spPr>
          <a:xfrm>
            <a:off x="3072384" y="2880360"/>
            <a:ext cx="1828800"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Average Purchase</a:t>
            </a:r>
            <a:endParaRPr lang="en-US" sz="1100" dirty="0"/>
          </a:p>
        </p:txBody>
      </p:sp>
      <p:sp>
        <p:nvSpPr>
          <p:cNvPr id="13" name="Shape 10"/>
          <p:cNvSpPr/>
          <p:nvPr/>
        </p:nvSpPr>
        <p:spPr>
          <a:xfrm>
            <a:off x="5193792" y="1828800"/>
            <a:ext cx="2048256" cy="1554480"/>
          </a:xfrm>
          <a:prstGeom prst="roundRect">
            <a:avLst>
              <a:gd name="adj" fmla="val 5294"/>
            </a:avLst>
          </a:prstGeom>
          <a:solidFill>
            <a:srgbClr val="F7F5F3"/>
          </a:solidFill>
          <a:ln/>
          <a:effectLst>
            <a:outerShdw sx="100000" sy="100000" kx="0" ky="0" algn="bl" rotWithShape="0" blurRad="76200" dist="25400" dir="5400000">
              <a:srgbClr val="000000">
                <a:alpha val="12000"/>
              </a:srgbClr>
            </a:outerShdw>
          </a:effectLst>
        </p:spPr>
      </p:sp>
      <p:sp>
        <p:nvSpPr>
          <p:cNvPr id="14" name="Text 11"/>
          <p:cNvSpPr/>
          <p:nvPr/>
        </p:nvSpPr>
        <p:spPr>
          <a:xfrm>
            <a:off x="5303520" y="1975104"/>
            <a:ext cx="1828800" cy="896112"/>
          </a:xfrm>
          <a:prstGeom prst="rect">
            <a:avLst/>
          </a:prstGeom>
          <a:noFill/>
          <a:ln/>
        </p:spPr>
        <p:txBody>
          <a:bodyPr wrap="square" lIns="0" tIns="0" rIns="0" bIns="0" rtlCol="0" anchor="b"/>
          <a:lstStyle/>
          <a:p>
            <a:pPr algn="ctr" indent="0" marL="0">
              <a:buNone/>
            </a:pPr>
            <a:r>
              <a:rPr lang="en-US" sz="1900" b="1" dirty="0">
                <a:solidFill>
                  <a:srgbClr val="D7263D"/>
                </a:solidFill>
                <a:latin typeface="Cambria" pitchFamily="34" charset="0"/>
                <a:ea typeface="Cambria" pitchFamily="34" charset="-122"/>
                <a:cs typeface="Cambria" pitchFamily="34" charset="-120"/>
              </a:rPr>
              <a:t>₹865.02K</a:t>
            </a:r>
            <a:endParaRPr lang="en-US" sz="1900" dirty="0"/>
          </a:p>
        </p:txBody>
      </p:sp>
      <p:sp>
        <p:nvSpPr>
          <p:cNvPr id="15" name="Text 12"/>
          <p:cNvSpPr/>
          <p:nvPr/>
        </p:nvSpPr>
        <p:spPr>
          <a:xfrm>
            <a:off x="5303520" y="2880360"/>
            <a:ext cx="1828800"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Avg. Purchase / Customer</a:t>
            </a:r>
            <a:endParaRPr lang="en-US" sz="1100" dirty="0"/>
          </a:p>
        </p:txBody>
      </p:sp>
      <p:sp>
        <p:nvSpPr>
          <p:cNvPr id="16" name="Shape 13"/>
          <p:cNvSpPr/>
          <p:nvPr/>
        </p:nvSpPr>
        <p:spPr>
          <a:xfrm>
            <a:off x="7424928" y="1828800"/>
            <a:ext cx="2048256" cy="1554480"/>
          </a:xfrm>
          <a:prstGeom prst="roundRect">
            <a:avLst>
              <a:gd name="adj" fmla="val 5294"/>
            </a:avLst>
          </a:prstGeom>
          <a:solidFill>
            <a:srgbClr val="F7F5F3"/>
          </a:solidFill>
          <a:ln/>
          <a:effectLst>
            <a:outerShdw sx="100000" sy="100000" kx="0" ky="0" algn="bl" rotWithShape="0" blurRad="76200" dist="25400" dir="5400000">
              <a:srgbClr val="000000">
                <a:alpha val="12000"/>
              </a:srgbClr>
            </a:outerShdw>
          </a:effectLst>
        </p:spPr>
      </p:sp>
      <p:sp>
        <p:nvSpPr>
          <p:cNvPr id="17" name="Text 14"/>
          <p:cNvSpPr/>
          <p:nvPr/>
        </p:nvSpPr>
        <p:spPr>
          <a:xfrm>
            <a:off x="7534656" y="1975104"/>
            <a:ext cx="1828800" cy="89611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~100%</a:t>
            </a:r>
            <a:endParaRPr lang="en-US" sz="2500" dirty="0"/>
          </a:p>
        </p:txBody>
      </p:sp>
      <p:sp>
        <p:nvSpPr>
          <p:cNvPr id="18" name="Text 15"/>
          <p:cNvSpPr/>
          <p:nvPr/>
        </p:nvSpPr>
        <p:spPr>
          <a:xfrm>
            <a:off x="7534656" y="2880360"/>
            <a:ext cx="1828800"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Repeat Purchase Rate</a:t>
            </a:r>
            <a:endParaRPr lang="en-US" sz="1100" dirty="0"/>
          </a:p>
        </p:txBody>
      </p:sp>
      <p:sp>
        <p:nvSpPr>
          <p:cNvPr id="19" name="Shape 16"/>
          <p:cNvSpPr/>
          <p:nvPr/>
        </p:nvSpPr>
        <p:spPr>
          <a:xfrm>
            <a:off x="9656064" y="1828800"/>
            <a:ext cx="2048256" cy="1554480"/>
          </a:xfrm>
          <a:prstGeom prst="roundRect">
            <a:avLst>
              <a:gd name="adj" fmla="val 5294"/>
            </a:avLst>
          </a:prstGeom>
          <a:solidFill>
            <a:srgbClr val="F7F5F3"/>
          </a:solidFill>
          <a:ln/>
          <a:effectLst>
            <a:outerShdw sx="100000" sy="100000" kx="0" ky="0" algn="bl" rotWithShape="0" blurRad="76200" dist="25400" dir="5400000">
              <a:srgbClr val="000000">
                <a:alpha val="12000"/>
              </a:srgbClr>
            </a:outerShdw>
          </a:effectLst>
        </p:spPr>
      </p:sp>
      <p:sp>
        <p:nvSpPr>
          <p:cNvPr id="20" name="Text 17"/>
          <p:cNvSpPr/>
          <p:nvPr/>
        </p:nvSpPr>
        <p:spPr>
          <a:xfrm>
            <a:off x="9765792" y="1975104"/>
            <a:ext cx="1828800" cy="896112"/>
          </a:xfrm>
          <a:prstGeom prst="rect">
            <a:avLst/>
          </a:prstGeom>
          <a:noFill/>
          <a:ln/>
        </p:spPr>
        <p:txBody>
          <a:bodyPr wrap="square" lIns="0" tIns="0" rIns="0" bIns="0" rtlCol="0" anchor="b"/>
          <a:lstStyle/>
          <a:p>
            <a:pPr algn="ctr" indent="0" marL="0">
              <a:buNone/>
            </a:pPr>
            <a:r>
              <a:rPr lang="en-US" sz="1900" b="1" dirty="0">
                <a:solidFill>
                  <a:srgbClr val="D7263D"/>
                </a:solidFill>
                <a:latin typeface="Cambria" pitchFamily="34" charset="0"/>
                <a:ea typeface="Cambria" pitchFamily="34" charset="-122"/>
                <a:cs typeface="Cambria" pitchFamily="34" charset="-120"/>
              </a:rPr>
              <a:t>Cat. 1, 5, 8</a:t>
            </a:r>
            <a:endParaRPr lang="en-US" sz="1900" dirty="0"/>
          </a:p>
        </p:txBody>
      </p:sp>
      <p:sp>
        <p:nvSpPr>
          <p:cNvPr id="21" name="Text 18"/>
          <p:cNvSpPr/>
          <p:nvPr/>
        </p:nvSpPr>
        <p:spPr>
          <a:xfrm>
            <a:off x="9765792" y="2880360"/>
            <a:ext cx="1828800"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Category Penetration (top)</a:t>
            </a:r>
            <a:endParaRPr lang="en-US" sz="1100" dirty="0"/>
          </a:p>
        </p:txBody>
      </p:sp>
      <p:sp>
        <p:nvSpPr>
          <p:cNvPr id="22" name="Shape 19"/>
          <p:cNvSpPr/>
          <p:nvPr/>
        </p:nvSpPr>
        <p:spPr>
          <a:xfrm>
            <a:off x="731520" y="3611880"/>
            <a:ext cx="2048256" cy="1554480"/>
          </a:xfrm>
          <a:prstGeom prst="roundRect">
            <a:avLst>
              <a:gd name="adj" fmla="val 5294"/>
            </a:avLst>
          </a:prstGeom>
          <a:solidFill>
            <a:srgbClr val="F7F5F3"/>
          </a:solidFill>
          <a:ln/>
          <a:effectLst>
            <a:outerShdw sx="100000" sy="100000" kx="0" ky="0" algn="bl" rotWithShape="0" blurRad="76200" dist="25400" dir="5400000">
              <a:srgbClr val="000000">
                <a:alpha val="12000"/>
              </a:srgbClr>
            </a:outerShdw>
          </a:effectLst>
        </p:spPr>
      </p:sp>
      <p:sp>
        <p:nvSpPr>
          <p:cNvPr id="23" name="Text 20"/>
          <p:cNvSpPr/>
          <p:nvPr/>
        </p:nvSpPr>
        <p:spPr>
          <a:xfrm>
            <a:off x="841248" y="3758184"/>
            <a:ext cx="1828800" cy="89611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City B</a:t>
            </a:r>
            <a:endParaRPr lang="en-US" sz="2500" dirty="0"/>
          </a:p>
        </p:txBody>
      </p:sp>
      <p:sp>
        <p:nvSpPr>
          <p:cNvPr id="24" name="Text 21"/>
          <p:cNvSpPr/>
          <p:nvPr/>
        </p:nvSpPr>
        <p:spPr>
          <a:xfrm>
            <a:off x="841248" y="4663440"/>
            <a:ext cx="1828800"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Highest City Contribution</a:t>
            </a:r>
            <a:endParaRPr lang="en-US" sz="1100" dirty="0"/>
          </a:p>
        </p:txBody>
      </p:sp>
      <p:sp>
        <p:nvSpPr>
          <p:cNvPr id="25" name="Shape 22"/>
          <p:cNvSpPr/>
          <p:nvPr/>
        </p:nvSpPr>
        <p:spPr>
          <a:xfrm>
            <a:off x="2962656" y="3611880"/>
            <a:ext cx="2048256" cy="1554480"/>
          </a:xfrm>
          <a:prstGeom prst="roundRect">
            <a:avLst>
              <a:gd name="adj" fmla="val 5294"/>
            </a:avLst>
          </a:prstGeom>
          <a:solidFill>
            <a:srgbClr val="F7F5F3"/>
          </a:solidFill>
          <a:ln/>
          <a:effectLst>
            <a:outerShdw sx="100000" sy="100000" kx="0" ky="0" algn="bl" rotWithShape="0" blurRad="76200" dist="25400" dir="5400000">
              <a:srgbClr val="000000">
                <a:alpha val="12000"/>
              </a:srgbClr>
            </a:outerShdw>
          </a:effectLst>
        </p:spPr>
      </p:sp>
      <p:sp>
        <p:nvSpPr>
          <p:cNvPr id="26" name="Text 23"/>
          <p:cNvSpPr/>
          <p:nvPr/>
        </p:nvSpPr>
        <p:spPr>
          <a:xfrm>
            <a:off x="3072384" y="3758184"/>
            <a:ext cx="1828800" cy="896112"/>
          </a:xfrm>
          <a:prstGeom prst="rect">
            <a:avLst/>
          </a:prstGeom>
          <a:noFill/>
          <a:ln/>
        </p:spPr>
        <p:txBody>
          <a:bodyPr wrap="square" lIns="0" tIns="0" rIns="0" bIns="0" rtlCol="0" anchor="b"/>
          <a:lstStyle/>
          <a:p>
            <a:pPr algn="ctr" indent="0" marL="0">
              <a:buNone/>
            </a:pPr>
            <a:r>
              <a:rPr lang="en-US" sz="2500" b="1" dirty="0">
                <a:solidFill>
                  <a:srgbClr val="D7263D"/>
                </a:solidFill>
                <a:latin typeface="Cambria" pitchFamily="34" charset="0"/>
                <a:ea typeface="Cambria" pitchFamily="34" charset="-122"/>
                <a:cs typeface="Cambria" pitchFamily="34" charset="-120"/>
              </a:rPr>
              <a:t>35.7%</a:t>
            </a:r>
            <a:endParaRPr lang="en-US" sz="2500" dirty="0"/>
          </a:p>
        </p:txBody>
      </p:sp>
      <p:sp>
        <p:nvSpPr>
          <p:cNvPr id="27" name="Text 24"/>
          <p:cNvSpPr/>
          <p:nvPr/>
        </p:nvSpPr>
        <p:spPr>
          <a:xfrm>
            <a:off x="3072384" y="4663440"/>
            <a:ext cx="1828800" cy="438912"/>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High-Value Segment Share</a:t>
            </a:r>
            <a:endParaRPr lang="en-US" sz="1100" dirty="0"/>
          </a:p>
        </p:txBody>
      </p:sp>
      <p:sp>
        <p:nvSpPr>
          <p:cNvPr id="28" name="Text 25"/>
          <p:cNvSpPr/>
          <p:nvPr/>
        </p:nvSpPr>
        <p:spPr>
          <a:xfrm>
            <a:off x="731520" y="5440680"/>
            <a:ext cx="10515600" cy="457200"/>
          </a:xfrm>
          <a:prstGeom prst="rect">
            <a:avLst/>
          </a:prstGeom>
          <a:noFill/>
          <a:ln/>
        </p:spPr>
        <p:txBody>
          <a:bodyPr wrap="square" lIns="0" tIns="0" rIns="0" bIns="0" rtlCol="0" anchor="ctr"/>
          <a:lstStyle/>
          <a:p>
            <a:pPr indent="0" marL="0">
              <a:buNone/>
            </a:pPr>
            <a:r>
              <a:rPr lang="en-US" sz="1200" i="1" dirty="0">
                <a:solidFill>
                  <a:srgbClr val="6E6E6E"/>
                </a:solidFill>
                <a:latin typeface="Calibri" pitchFamily="34" charset="0"/>
                <a:ea typeface="Calibri" pitchFamily="34" charset="-122"/>
                <a:cs typeface="Calibri" pitchFamily="34" charset="-120"/>
              </a:rPr>
              <a:t>Seven KPIs defined in Step 1 were calculated end-to-end and tracked live on the Power BI Executive Dashboard.</a:t>
            </a:r>
            <a:endParaRPr lang="en-US" sz="1200" dirty="0"/>
          </a:p>
        </p:txBody>
      </p:sp>
      <p:sp>
        <p:nvSpPr>
          <p:cNvPr id="29" name="Text 26"/>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users.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CUSTOMER ANALYSIS</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783080"/>
            <a:ext cx="457200" cy="457200"/>
          </a:xfrm>
          <a:prstGeom prst="ellipse">
            <a:avLst/>
          </a:prstGeom>
          <a:solidFill>
            <a:srgbClr val="D7263D"/>
          </a:solidFill>
          <a:ln/>
        </p:spPr>
      </p:sp>
      <p:pic>
        <p:nvPicPr>
          <p:cNvPr id="8" name="Image 1" descr="img/ic_gender.png">    </p:cNvPr>
          <p:cNvPicPr>
            <a:picLocks noChangeAspect="1"/>
          </p:cNvPicPr>
          <p:nvPr/>
        </p:nvPicPr>
        <p:blipFill>
          <a:blip r:embed="rId2"/>
          <a:stretch>
            <a:fillRect/>
          </a:stretch>
        </p:blipFill>
        <p:spPr>
          <a:xfrm>
            <a:off x="786384" y="1837944"/>
            <a:ext cx="347472" cy="347472"/>
          </a:xfrm>
          <a:prstGeom prst="rect">
            <a:avLst/>
          </a:prstGeom>
        </p:spPr>
      </p:pic>
      <p:sp>
        <p:nvSpPr>
          <p:cNvPr id="9" name="Text 5"/>
          <p:cNvSpPr/>
          <p:nvPr/>
        </p:nvSpPr>
        <p:spPr>
          <a:xfrm>
            <a:off x="1353312" y="1737360"/>
            <a:ext cx="4544568"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Gender</a:t>
            </a:r>
            <a:endParaRPr lang="en-US" sz="1400" dirty="0"/>
          </a:p>
        </p:txBody>
      </p:sp>
      <p:sp>
        <p:nvSpPr>
          <p:cNvPr id="10" name="Text 6"/>
          <p:cNvSpPr/>
          <p:nvPr/>
        </p:nvSpPr>
        <p:spPr>
          <a:xfrm>
            <a:off x="1353312" y="2048256"/>
            <a:ext cx="4544568" cy="1106424"/>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Male customers spend more: ₹9,437.53 vs. ₹8,734.57 for female customers — a statistically significant gap (t-test, p &lt; 0.001).</a:t>
            </a:r>
            <a:endParaRPr lang="en-US" sz="1150" dirty="0"/>
          </a:p>
        </p:txBody>
      </p:sp>
      <p:sp>
        <p:nvSpPr>
          <p:cNvPr id="11" name="Shape 7"/>
          <p:cNvSpPr/>
          <p:nvPr/>
        </p:nvSpPr>
        <p:spPr>
          <a:xfrm>
            <a:off x="6263640" y="1783080"/>
            <a:ext cx="457200" cy="457200"/>
          </a:xfrm>
          <a:prstGeom prst="ellipse">
            <a:avLst/>
          </a:prstGeom>
          <a:solidFill>
            <a:srgbClr val="D7263D"/>
          </a:solidFill>
          <a:ln/>
        </p:spPr>
      </p:sp>
      <p:pic>
        <p:nvPicPr>
          <p:cNvPr id="12" name="Image 2" descr="img/ic_usertag.png">    </p:cNvPr>
          <p:cNvPicPr>
            <a:picLocks noChangeAspect="1"/>
          </p:cNvPicPr>
          <p:nvPr/>
        </p:nvPicPr>
        <p:blipFill>
          <a:blip r:embed="rId3"/>
          <a:stretch>
            <a:fillRect/>
          </a:stretch>
        </p:blipFill>
        <p:spPr>
          <a:xfrm>
            <a:off x="6318504" y="1837944"/>
            <a:ext cx="347472" cy="347472"/>
          </a:xfrm>
          <a:prstGeom prst="rect">
            <a:avLst/>
          </a:prstGeom>
        </p:spPr>
      </p:pic>
      <p:sp>
        <p:nvSpPr>
          <p:cNvPr id="13" name="Text 8"/>
          <p:cNvSpPr/>
          <p:nvPr/>
        </p:nvSpPr>
        <p:spPr>
          <a:xfrm>
            <a:off x="6885432" y="1737360"/>
            <a:ext cx="4544568"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Age</a:t>
            </a:r>
            <a:endParaRPr lang="en-US" sz="1400" dirty="0"/>
          </a:p>
        </p:txBody>
      </p:sp>
      <p:sp>
        <p:nvSpPr>
          <p:cNvPr id="14" name="Text 9"/>
          <p:cNvSpPr/>
          <p:nvPr/>
        </p:nvSpPr>
        <p:spPr>
          <a:xfrm>
            <a:off x="6885432" y="2048256"/>
            <a:ext cx="4544568" cy="1106424"/>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26–35 is the leading age group by total spend. Age has a statistically significant but comparatively modest effect (ANOVA F = 40.6).</a:t>
            </a:r>
            <a:endParaRPr lang="en-US" sz="1150" dirty="0"/>
          </a:p>
        </p:txBody>
      </p:sp>
      <p:sp>
        <p:nvSpPr>
          <p:cNvPr id="15" name="Shape 10"/>
          <p:cNvSpPr/>
          <p:nvPr/>
        </p:nvSpPr>
        <p:spPr>
          <a:xfrm>
            <a:off x="731520" y="3383280"/>
            <a:ext cx="457200" cy="457200"/>
          </a:xfrm>
          <a:prstGeom prst="ellipse">
            <a:avLst/>
          </a:prstGeom>
          <a:solidFill>
            <a:srgbClr val="D7263D"/>
          </a:solidFill>
          <a:ln/>
        </p:spPr>
      </p:sp>
      <p:pic>
        <p:nvPicPr>
          <p:cNvPr id="16" name="Image 3" descr="img/ic_ring.png">    </p:cNvPr>
          <p:cNvPicPr>
            <a:picLocks noChangeAspect="1"/>
          </p:cNvPicPr>
          <p:nvPr/>
        </p:nvPicPr>
        <p:blipFill>
          <a:blip r:embed="rId4"/>
          <a:stretch>
            <a:fillRect/>
          </a:stretch>
        </p:blipFill>
        <p:spPr>
          <a:xfrm>
            <a:off x="786384" y="3438144"/>
            <a:ext cx="347472" cy="347472"/>
          </a:xfrm>
          <a:prstGeom prst="rect">
            <a:avLst/>
          </a:prstGeom>
        </p:spPr>
      </p:pic>
      <p:sp>
        <p:nvSpPr>
          <p:cNvPr id="17" name="Text 11"/>
          <p:cNvSpPr/>
          <p:nvPr/>
        </p:nvSpPr>
        <p:spPr>
          <a:xfrm>
            <a:off x="1353312" y="3337560"/>
            <a:ext cx="4544568"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Marital Status</a:t>
            </a:r>
            <a:endParaRPr lang="en-US" sz="1400" dirty="0"/>
          </a:p>
        </p:txBody>
      </p:sp>
      <p:sp>
        <p:nvSpPr>
          <p:cNvPr id="18" name="Text 12"/>
          <p:cNvSpPr/>
          <p:nvPr/>
        </p:nvSpPr>
        <p:spPr>
          <a:xfrm>
            <a:off x="1353312" y="3648456"/>
            <a:ext cx="4544568" cy="1106424"/>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No meaningful difference: Single ₹9,265.91 vs. Married ₹9,261.17 (p = 0.731) — an initial hypothesis this project disproved.</a:t>
            </a:r>
            <a:endParaRPr lang="en-US" sz="1150" dirty="0"/>
          </a:p>
        </p:txBody>
      </p:sp>
      <p:sp>
        <p:nvSpPr>
          <p:cNvPr id="19" name="Shape 13"/>
          <p:cNvSpPr/>
          <p:nvPr/>
        </p:nvSpPr>
        <p:spPr>
          <a:xfrm>
            <a:off x="6263640" y="3383280"/>
            <a:ext cx="457200" cy="457200"/>
          </a:xfrm>
          <a:prstGeom prst="ellipse">
            <a:avLst/>
          </a:prstGeom>
          <a:solidFill>
            <a:srgbClr val="D7263D"/>
          </a:solidFill>
          <a:ln/>
        </p:spPr>
      </p:sp>
      <p:pic>
        <p:nvPicPr>
          <p:cNvPr id="20" name="Image 4" descr="img/ic_briefcase.png">    </p:cNvPr>
          <p:cNvPicPr>
            <a:picLocks noChangeAspect="1"/>
          </p:cNvPicPr>
          <p:nvPr/>
        </p:nvPicPr>
        <p:blipFill>
          <a:blip r:embed="rId5"/>
          <a:stretch>
            <a:fillRect/>
          </a:stretch>
        </p:blipFill>
        <p:spPr>
          <a:xfrm>
            <a:off x="6318504" y="3438144"/>
            <a:ext cx="347472" cy="347472"/>
          </a:xfrm>
          <a:prstGeom prst="rect">
            <a:avLst/>
          </a:prstGeom>
        </p:spPr>
      </p:pic>
      <p:sp>
        <p:nvSpPr>
          <p:cNvPr id="21" name="Text 14"/>
          <p:cNvSpPr/>
          <p:nvPr/>
        </p:nvSpPr>
        <p:spPr>
          <a:xfrm>
            <a:off x="6885432" y="3337560"/>
            <a:ext cx="4544568"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Occupation</a:t>
            </a:r>
            <a:endParaRPr lang="en-US" sz="1400" dirty="0"/>
          </a:p>
        </p:txBody>
      </p:sp>
      <p:sp>
        <p:nvSpPr>
          <p:cNvPr id="22" name="Text 15"/>
          <p:cNvSpPr/>
          <p:nvPr/>
        </p:nvSpPr>
        <p:spPr>
          <a:xfrm>
            <a:off x="6885432" y="3648456"/>
            <a:ext cx="4544568" cy="1106424"/>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Correlation with purchase amount is negligible (r = 0.02) despite a tiny p-value — not a practically useful targeting variable.</a:t>
            </a:r>
            <a:endParaRPr lang="en-US" sz="1150" dirty="0"/>
          </a:p>
        </p:txBody>
      </p:sp>
      <p:sp>
        <p:nvSpPr>
          <p:cNvPr id="23" name="Shape 16"/>
          <p:cNvSpPr/>
          <p:nvPr/>
        </p:nvSpPr>
        <p:spPr>
          <a:xfrm>
            <a:off x="731520" y="4983480"/>
            <a:ext cx="10698480" cy="868680"/>
          </a:xfrm>
          <a:prstGeom prst="roundRect">
            <a:avLst>
              <a:gd name="adj" fmla="val 8421"/>
            </a:avLst>
          </a:prstGeom>
          <a:solidFill>
            <a:srgbClr val="FBE4E7"/>
          </a:solidFill>
          <a:ln/>
        </p:spPr>
      </p:sp>
      <p:sp>
        <p:nvSpPr>
          <p:cNvPr id="24" name="Shape 17"/>
          <p:cNvSpPr/>
          <p:nvPr/>
        </p:nvSpPr>
        <p:spPr>
          <a:xfrm>
            <a:off x="960120" y="5138928"/>
            <a:ext cx="548640" cy="548640"/>
          </a:xfrm>
          <a:prstGeom prst="ellipse">
            <a:avLst/>
          </a:prstGeom>
          <a:solidFill>
            <a:srgbClr val="D7263D"/>
          </a:solidFill>
          <a:ln/>
        </p:spPr>
      </p:sp>
      <p:pic>
        <p:nvPicPr>
          <p:cNvPr id="25" name="Image 5" descr="img/ic_layers.png">    </p:cNvPr>
          <p:cNvPicPr>
            <a:picLocks noChangeAspect="1"/>
          </p:cNvPicPr>
          <p:nvPr/>
        </p:nvPicPr>
        <p:blipFill>
          <a:blip r:embed="rId6"/>
          <a:stretch>
            <a:fillRect/>
          </a:stretch>
        </p:blipFill>
        <p:spPr>
          <a:xfrm>
            <a:off x="1025957" y="5204765"/>
            <a:ext cx="416966" cy="416966"/>
          </a:xfrm>
          <a:prstGeom prst="rect">
            <a:avLst/>
          </a:prstGeom>
        </p:spPr>
      </p:pic>
      <p:sp>
        <p:nvSpPr>
          <p:cNvPr id="26" name="Text 18"/>
          <p:cNvSpPr/>
          <p:nvPr/>
        </p:nvSpPr>
        <p:spPr>
          <a:xfrm>
            <a:off x="1691640" y="4983480"/>
            <a:ext cx="9509760" cy="868680"/>
          </a:xfrm>
          <a:prstGeom prst="rect">
            <a:avLst/>
          </a:prstGeom>
          <a:noFill/>
          <a:ln/>
        </p:spPr>
        <p:txBody>
          <a:bodyPr wrap="square" lIns="0" tIns="0" rIns="0" bIns="0" rtlCol="0" anchor="ctr"/>
          <a:lstStyle/>
          <a:p>
            <a:pPr indent="0" marL="0">
              <a:lnSpc>
                <a:spcPct val="115000"/>
              </a:lnSpc>
              <a:buNone/>
            </a:pPr>
            <a:r>
              <a:rPr lang="en-US" sz="1250" b="1" dirty="0">
                <a:solidFill>
                  <a:srgbClr val="1A1A1A"/>
                </a:solidFill>
                <a:latin typeface="Calibri" pitchFamily="34" charset="0"/>
                <a:ea typeface="Calibri" pitchFamily="34" charset="-122"/>
                <a:cs typeface="Calibri" pitchFamily="34" charset="-120"/>
              </a:rPr>
              <a:t>Customer Segments:  </a:t>
            </a:r>
            <a:pPr indent="0" marL="0">
              <a:lnSpc>
                <a:spcPct val="115000"/>
              </a:lnSpc>
              <a:buNone/>
            </a:pPr>
            <a:r>
              <a:rPr lang="en-US" sz="1250" dirty="0">
                <a:solidFill>
                  <a:srgbClr val="6E6E6E"/>
                </a:solidFill>
                <a:latin typeface="Calibri" pitchFamily="34" charset="0"/>
                <a:ea typeface="Calibri" pitchFamily="34" charset="-122"/>
                <a:cs typeface="Calibri" pitchFamily="34" charset="-120"/>
              </a:rPr>
              <a:t>High-Value Loyal 35.7%  ·  Regular 33.1%  ·  Loyal 31.2%  —  no meaningful one-time-buyer or deal-seeker segment emerged.</a:t>
            </a:r>
            <a:endParaRPr lang="en-US" sz="1250" dirty="0"/>
          </a:p>
        </p:txBody>
      </p:sp>
      <p:sp>
        <p:nvSpPr>
          <p:cNvPr id="27" name="Text 19"/>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bag.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PRODUCT ANALYSIS</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783080"/>
            <a:ext cx="5166360" cy="2011680"/>
          </a:xfrm>
          <a:prstGeom prst="roundRect">
            <a:avLst>
              <a:gd name="adj" fmla="val 3636"/>
            </a:avLst>
          </a:prstGeom>
          <a:solidFill>
            <a:srgbClr val="F7F5F3"/>
          </a:solidFill>
          <a:ln/>
        </p:spPr>
      </p:sp>
      <p:sp>
        <p:nvSpPr>
          <p:cNvPr id="8" name="Shape 5"/>
          <p:cNvSpPr/>
          <p:nvPr/>
        </p:nvSpPr>
        <p:spPr>
          <a:xfrm>
            <a:off x="987552" y="2020824"/>
            <a:ext cx="502920" cy="502920"/>
          </a:xfrm>
          <a:prstGeom prst="ellipse">
            <a:avLst/>
          </a:prstGeom>
          <a:solidFill>
            <a:srgbClr val="D7263D"/>
          </a:solidFill>
          <a:ln/>
        </p:spPr>
      </p:sp>
      <p:pic>
        <p:nvPicPr>
          <p:cNvPr id="9" name="Image 1" descr="img/ic_chartbar.png">    </p:cNvPr>
          <p:cNvPicPr>
            <a:picLocks noChangeAspect="1"/>
          </p:cNvPicPr>
          <p:nvPr/>
        </p:nvPicPr>
        <p:blipFill>
          <a:blip r:embed="rId2"/>
          <a:stretch>
            <a:fillRect/>
          </a:stretch>
        </p:blipFill>
        <p:spPr>
          <a:xfrm>
            <a:off x="1047902" y="2081174"/>
            <a:ext cx="382219" cy="382219"/>
          </a:xfrm>
          <a:prstGeom prst="rect">
            <a:avLst/>
          </a:prstGeom>
        </p:spPr>
      </p:pic>
      <p:sp>
        <p:nvSpPr>
          <p:cNvPr id="10" name="Text 6"/>
          <p:cNvSpPr/>
          <p:nvPr/>
        </p:nvSpPr>
        <p:spPr>
          <a:xfrm>
            <a:off x="1645920" y="1984248"/>
            <a:ext cx="4023360" cy="502920"/>
          </a:xfrm>
          <a:prstGeom prst="rect">
            <a:avLst/>
          </a:prstGeom>
          <a:noFill/>
          <a:ln/>
        </p:spPr>
        <p:txBody>
          <a:bodyPr wrap="square" lIns="0" tIns="0" rIns="0" bIns="0" rtlCol="0" anchor="t"/>
          <a:lstStyle/>
          <a:p>
            <a:pPr indent="0" marL="0">
              <a:buNone/>
            </a:pPr>
            <a:r>
              <a:rPr lang="en-US" sz="1350" b="1" dirty="0">
                <a:solidFill>
                  <a:srgbClr val="1A1A1A"/>
                </a:solidFill>
                <a:latin typeface="Cambria" pitchFamily="34" charset="0"/>
                <a:ea typeface="Cambria" pitchFamily="34" charset="-122"/>
                <a:cs typeface="Cambria" pitchFamily="34" charset="-120"/>
              </a:rPr>
              <a:t>Top Categories</a:t>
            </a:r>
            <a:endParaRPr lang="en-US" sz="1350" dirty="0"/>
          </a:p>
        </p:txBody>
      </p:sp>
      <p:sp>
        <p:nvSpPr>
          <p:cNvPr id="11" name="Text 7"/>
          <p:cNvSpPr/>
          <p:nvPr/>
        </p:nvSpPr>
        <p:spPr>
          <a:xfrm>
            <a:off x="987552" y="2606040"/>
            <a:ext cx="4654296" cy="100584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Categories 1, 5, and 8 show by far the highest transaction volume — the clearest “penetration” leaders across the customer base.</a:t>
            </a:r>
            <a:endParaRPr lang="en-US" sz="1150" dirty="0"/>
          </a:p>
        </p:txBody>
      </p:sp>
      <p:sp>
        <p:nvSpPr>
          <p:cNvPr id="12" name="Shape 8"/>
          <p:cNvSpPr/>
          <p:nvPr/>
        </p:nvSpPr>
        <p:spPr>
          <a:xfrm>
            <a:off x="6263640" y="1783080"/>
            <a:ext cx="5166360" cy="2011680"/>
          </a:xfrm>
          <a:prstGeom prst="roundRect">
            <a:avLst>
              <a:gd name="adj" fmla="val 3636"/>
            </a:avLst>
          </a:prstGeom>
          <a:solidFill>
            <a:srgbClr val="F7F5F3"/>
          </a:solidFill>
          <a:ln/>
        </p:spPr>
      </p:sp>
      <p:sp>
        <p:nvSpPr>
          <p:cNvPr id="13" name="Shape 9"/>
          <p:cNvSpPr/>
          <p:nvPr/>
        </p:nvSpPr>
        <p:spPr>
          <a:xfrm>
            <a:off x="6519672" y="2020824"/>
            <a:ext cx="502920" cy="502920"/>
          </a:xfrm>
          <a:prstGeom prst="ellipse">
            <a:avLst/>
          </a:prstGeom>
          <a:solidFill>
            <a:srgbClr val="D7263D"/>
          </a:solidFill>
          <a:ln/>
        </p:spPr>
      </p:sp>
      <p:pic>
        <p:nvPicPr>
          <p:cNvPr id="14" name="Image 2" descr="img/ic_chartline.png">    </p:cNvPr>
          <p:cNvPicPr>
            <a:picLocks noChangeAspect="1"/>
          </p:cNvPicPr>
          <p:nvPr/>
        </p:nvPicPr>
        <p:blipFill>
          <a:blip r:embed="rId3"/>
          <a:stretch>
            <a:fillRect/>
          </a:stretch>
        </p:blipFill>
        <p:spPr>
          <a:xfrm>
            <a:off x="6580022" y="2081174"/>
            <a:ext cx="382219" cy="382219"/>
          </a:xfrm>
          <a:prstGeom prst="rect">
            <a:avLst/>
          </a:prstGeom>
        </p:spPr>
      </p:pic>
      <p:sp>
        <p:nvSpPr>
          <p:cNvPr id="15" name="Text 10"/>
          <p:cNvSpPr/>
          <p:nvPr/>
        </p:nvSpPr>
        <p:spPr>
          <a:xfrm>
            <a:off x="7178040" y="1984248"/>
            <a:ext cx="4023360" cy="502920"/>
          </a:xfrm>
          <a:prstGeom prst="rect">
            <a:avLst/>
          </a:prstGeom>
          <a:noFill/>
          <a:ln/>
        </p:spPr>
        <p:txBody>
          <a:bodyPr wrap="square" lIns="0" tIns="0" rIns="0" bIns="0" rtlCol="0" anchor="t"/>
          <a:lstStyle/>
          <a:p>
            <a:pPr indent="0" marL="0">
              <a:buNone/>
            </a:pPr>
            <a:r>
              <a:rPr lang="en-US" sz="1350" b="1" dirty="0">
                <a:solidFill>
                  <a:srgbClr val="1A1A1A"/>
                </a:solidFill>
                <a:latin typeface="Cambria" pitchFamily="34" charset="0"/>
                <a:ea typeface="Cambria" pitchFamily="34" charset="-122"/>
                <a:cs typeface="Cambria" pitchFamily="34" charset="-120"/>
              </a:rPr>
              <a:t>Underperforming Categories</a:t>
            </a:r>
            <a:endParaRPr lang="en-US" sz="1350" dirty="0"/>
          </a:p>
        </p:txBody>
      </p:sp>
      <p:sp>
        <p:nvSpPr>
          <p:cNvPr id="16" name="Text 11"/>
          <p:cNvSpPr/>
          <p:nvPr/>
        </p:nvSpPr>
        <p:spPr>
          <a:xfrm>
            <a:off x="6519672" y="2606040"/>
            <a:ext cx="4654296" cy="100584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Product_Category_1 correlates negatively with purchase value (r = -0.34): higher-numbered categories skew toward lower-value items.</a:t>
            </a:r>
            <a:endParaRPr lang="en-US" sz="1150" dirty="0"/>
          </a:p>
        </p:txBody>
      </p:sp>
      <p:sp>
        <p:nvSpPr>
          <p:cNvPr id="17" name="Shape 12"/>
          <p:cNvSpPr/>
          <p:nvPr/>
        </p:nvSpPr>
        <p:spPr>
          <a:xfrm>
            <a:off x="731520" y="4023360"/>
            <a:ext cx="5166360" cy="2011680"/>
          </a:xfrm>
          <a:prstGeom prst="roundRect">
            <a:avLst>
              <a:gd name="adj" fmla="val 3636"/>
            </a:avLst>
          </a:prstGeom>
          <a:solidFill>
            <a:srgbClr val="F7F5F3"/>
          </a:solidFill>
          <a:ln/>
        </p:spPr>
      </p:sp>
      <p:sp>
        <p:nvSpPr>
          <p:cNvPr id="18" name="Shape 13"/>
          <p:cNvSpPr/>
          <p:nvPr/>
        </p:nvSpPr>
        <p:spPr>
          <a:xfrm>
            <a:off x="987552" y="4261104"/>
            <a:ext cx="502920" cy="502920"/>
          </a:xfrm>
          <a:prstGeom prst="ellipse">
            <a:avLst/>
          </a:prstGeom>
          <a:solidFill>
            <a:srgbClr val="D7263D"/>
          </a:solidFill>
          <a:ln/>
        </p:spPr>
      </p:sp>
      <p:pic>
        <p:nvPicPr>
          <p:cNvPr id="19" name="Image 3" descr="img/ic_tags.png">    </p:cNvPr>
          <p:cNvPicPr>
            <a:picLocks noChangeAspect="1"/>
          </p:cNvPicPr>
          <p:nvPr/>
        </p:nvPicPr>
        <p:blipFill>
          <a:blip r:embed="rId4"/>
          <a:stretch>
            <a:fillRect/>
          </a:stretch>
        </p:blipFill>
        <p:spPr>
          <a:xfrm>
            <a:off x="1047902" y="4321454"/>
            <a:ext cx="382219" cy="382219"/>
          </a:xfrm>
          <a:prstGeom prst="rect">
            <a:avLst/>
          </a:prstGeom>
        </p:spPr>
      </p:pic>
      <p:sp>
        <p:nvSpPr>
          <p:cNvPr id="20" name="Text 14"/>
          <p:cNvSpPr/>
          <p:nvPr/>
        </p:nvSpPr>
        <p:spPr>
          <a:xfrm>
            <a:off x="1645920" y="4224528"/>
            <a:ext cx="4023360" cy="502920"/>
          </a:xfrm>
          <a:prstGeom prst="rect">
            <a:avLst/>
          </a:prstGeom>
          <a:noFill/>
          <a:ln/>
        </p:spPr>
        <p:txBody>
          <a:bodyPr wrap="square" lIns="0" tIns="0" rIns="0" bIns="0" rtlCol="0" anchor="t"/>
          <a:lstStyle/>
          <a:p>
            <a:pPr indent="0" marL="0">
              <a:buNone/>
            </a:pPr>
            <a:r>
              <a:rPr lang="en-US" sz="1350" b="1" dirty="0">
                <a:solidFill>
                  <a:srgbClr val="1A1A1A"/>
                </a:solidFill>
                <a:latin typeface="Cambria" pitchFamily="34" charset="0"/>
                <a:ea typeface="Cambria" pitchFamily="34" charset="-122"/>
                <a:cs typeface="Cambria" pitchFamily="34" charset="-120"/>
              </a:rPr>
              <a:t>Product / Category Affinity</a:t>
            </a:r>
            <a:endParaRPr lang="en-US" sz="1350" dirty="0"/>
          </a:p>
        </p:txBody>
      </p:sp>
      <p:sp>
        <p:nvSpPr>
          <p:cNvPr id="21" name="Text 15"/>
          <p:cNvSpPr/>
          <p:nvPr/>
        </p:nvSpPr>
        <p:spPr>
          <a:xfrm>
            <a:off x="987552" y="4846320"/>
            <a:ext cx="4654296" cy="100584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Customers routinely purchase across multiple category levels per visit, reflecting broad cross-category browsing rather than single-item trips.</a:t>
            </a:r>
            <a:endParaRPr lang="en-US" sz="1150" dirty="0"/>
          </a:p>
        </p:txBody>
      </p:sp>
      <p:sp>
        <p:nvSpPr>
          <p:cNvPr id="22" name="Shape 16"/>
          <p:cNvSpPr/>
          <p:nvPr/>
        </p:nvSpPr>
        <p:spPr>
          <a:xfrm>
            <a:off x="6263640" y="4023360"/>
            <a:ext cx="5166360" cy="2011680"/>
          </a:xfrm>
          <a:prstGeom prst="roundRect">
            <a:avLst>
              <a:gd name="adj" fmla="val 3636"/>
            </a:avLst>
          </a:prstGeom>
          <a:solidFill>
            <a:srgbClr val="F7F5F3"/>
          </a:solidFill>
          <a:ln/>
        </p:spPr>
      </p:sp>
      <p:sp>
        <p:nvSpPr>
          <p:cNvPr id="23" name="Shape 17"/>
          <p:cNvSpPr/>
          <p:nvPr/>
        </p:nvSpPr>
        <p:spPr>
          <a:xfrm>
            <a:off x="6519672" y="4261104"/>
            <a:ext cx="502920" cy="502920"/>
          </a:xfrm>
          <a:prstGeom prst="ellipse">
            <a:avLst/>
          </a:prstGeom>
          <a:solidFill>
            <a:srgbClr val="D7263D"/>
          </a:solidFill>
          <a:ln/>
        </p:spPr>
      </p:sp>
      <p:pic>
        <p:nvPicPr>
          <p:cNvPr id="24" name="Image 4" descr="img/ic_exchange.png">    </p:cNvPr>
          <p:cNvPicPr>
            <a:picLocks noChangeAspect="1"/>
          </p:cNvPicPr>
          <p:nvPr/>
        </p:nvPicPr>
        <p:blipFill>
          <a:blip r:embed="rId5"/>
          <a:stretch>
            <a:fillRect/>
          </a:stretch>
        </p:blipFill>
        <p:spPr>
          <a:xfrm>
            <a:off x="6580022" y="4321454"/>
            <a:ext cx="382219" cy="382219"/>
          </a:xfrm>
          <a:prstGeom prst="rect">
            <a:avLst/>
          </a:prstGeom>
        </p:spPr>
      </p:pic>
      <p:sp>
        <p:nvSpPr>
          <p:cNvPr id="25" name="Text 18"/>
          <p:cNvSpPr/>
          <p:nvPr/>
        </p:nvSpPr>
        <p:spPr>
          <a:xfrm>
            <a:off x="7178040" y="4224528"/>
            <a:ext cx="4023360" cy="502920"/>
          </a:xfrm>
          <a:prstGeom prst="rect">
            <a:avLst/>
          </a:prstGeom>
          <a:noFill/>
          <a:ln/>
        </p:spPr>
        <p:txBody>
          <a:bodyPr wrap="square" lIns="0" tIns="0" rIns="0" bIns="0" rtlCol="0" anchor="t"/>
          <a:lstStyle/>
          <a:p>
            <a:pPr indent="0" marL="0">
              <a:buNone/>
            </a:pPr>
            <a:r>
              <a:rPr lang="en-US" sz="1350" b="1" dirty="0">
                <a:solidFill>
                  <a:srgbClr val="1A1A1A"/>
                </a:solidFill>
                <a:latin typeface="Cambria" pitchFamily="34" charset="0"/>
                <a:ea typeface="Cambria" pitchFamily="34" charset="-122"/>
                <a:cs typeface="Cambria" pitchFamily="34" charset="-120"/>
              </a:rPr>
              <a:t>Cross-Selling Opportunities</a:t>
            </a:r>
            <a:endParaRPr lang="en-US" sz="1350" dirty="0"/>
          </a:p>
        </p:txBody>
      </p:sp>
      <p:sp>
        <p:nvSpPr>
          <p:cNvPr id="26" name="Text 19"/>
          <p:cNvSpPr/>
          <p:nvPr/>
        </p:nvSpPr>
        <p:spPr>
          <a:xfrm>
            <a:off x="6519672" y="4846320"/>
            <a:ext cx="4654296" cy="100584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A single hero product (P00025442) generated ₹27.99M alone — bundling adjacent SKUs within categories 1, 5, and 8 is the clearest cross-sell lever.</a:t>
            </a:r>
            <a:endParaRPr lang="en-US" sz="1150" dirty="0"/>
          </a:p>
        </p:txBody>
      </p:sp>
      <p:sp>
        <p:nvSpPr>
          <p:cNvPr id="27" name="Text 20"/>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mappin.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GEOGRAPHICAL ANALYSIS</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Text 4"/>
          <p:cNvSpPr/>
          <p:nvPr/>
        </p:nvSpPr>
        <p:spPr>
          <a:xfrm>
            <a:off x="731520" y="1691640"/>
            <a:ext cx="5486400" cy="32004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Sum of Purchase by City Category</a:t>
            </a:r>
            <a:endParaRPr lang="en-US" sz="1400" dirty="0"/>
          </a:p>
        </p:txBody>
      </p:sp>
      <p:sp>
        <p:nvSpPr>
          <p:cNvPr id="8" name="Text 5"/>
          <p:cNvSpPr/>
          <p:nvPr/>
        </p:nvSpPr>
        <p:spPr>
          <a:xfrm>
            <a:off x="731520" y="2130552"/>
            <a:ext cx="822960" cy="45720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City A</a:t>
            </a:r>
            <a:endParaRPr lang="en-US" sz="1200" dirty="0"/>
          </a:p>
        </p:txBody>
      </p:sp>
      <p:sp>
        <p:nvSpPr>
          <p:cNvPr id="9" name="Shape 6"/>
          <p:cNvSpPr/>
          <p:nvPr/>
        </p:nvSpPr>
        <p:spPr>
          <a:xfrm>
            <a:off x="1645920" y="2148840"/>
            <a:ext cx="3977640" cy="457200"/>
          </a:xfrm>
          <a:prstGeom prst="roundRect">
            <a:avLst>
              <a:gd name="adj" fmla="val 8000"/>
            </a:avLst>
          </a:prstGeom>
          <a:solidFill>
            <a:srgbClr val="EDEDED"/>
          </a:solidFill>
          <a:ln/>
        </p:spPr>
      </p:sp>
      <p:sp>
        <p:nvSpPr>
          <p:cNvPr id="10" name="Shape 7"/>
          <p:cNvSpPr/>
          <p:nvPr/>
        </p:nvSpPr>
        <p:spPr>
          <a:xfrm>
            <a:off x="1645920" y="2148840"/>
            <a:ext cx="2541270" cy="457200"/>
          </a:xfrm>
          <a:prstGeom prst="roundRect">
            <a:avLst>
              <a:gd name="adj" fmla="val 8000"/>
            </a:avLst>
          </a:prstGeom>
          <a:solidFill>
            <a:srgbClr val="B9B9B9"/>
          </a:solidFill>
          <a:ln/>
        </p:spPr>
      </p:sp>
      <p:sp>
        <p:nvSpPr>
          <p:cNvPr id="11" name="Text 8"/>
          <p:cNvSpPr/>
          <p:nvPr/>
        </p:nvSpPr>
        <p:spPr>
          <a:xfrm>
            <a:off x="4278630" y="2130552"/>
            <a:ext cx="914400" cy="45720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₹2.3bn</a:t>
            </a:r>
            <a:endParaRPr lang="en-US" sz="1150" dirty="0"/>
          </a:p>
        </p:txBody>
      </p:sp>
      <p:sp>
        <p:nvSpPr>
          <p:cNvPr id="12" name="Text 9"/>
          <p:cNvSpPr/>
          <p:nvPr/>
        </p:nvSpPr>
        <p:spPr>
          <a:xfrm>
            <a:off x="731520" y="2907792"/>
            <a:ext cx="822960" cy="45720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City B</a:t>
            </a:r>
            <a:endParaRPr lang="en-US" sz="1200" dirty="0"/>
          </a:p>
        </p:txBody>
      </p:sp>
      <p:sp>
        <p:nvSpPr>
          <p:cNvPr id="13" name="Shape 10"/>
          <p:cNvSpPr/>
          <p:nvPr/>
        </p:nvSpPr>
        <p:spPr>
          <a:xfrm>
            <a:off x="1645920" y="2926080"/>
            <a:ext cx="3977640" cy="457200"/>
          </a:xfrm>
          <a:prstGeom prst="roundRect">
            <a:avLst>
              <a:gd name="adj" fmla="val 8000"/>
            </a:avLst>
          </a:prstGeom>
          <a:solidFill>
            <a:srgbClr val="EDEDED"/>
          </a:solidFill>
          <a:ln/>
        </p:spPr>
      </p:sp>
      <p:sp>
        <p:nvSpPr>
          <p:cNvPr id="14" name="Shape 11"/>
          <p:cNvSpPr/>
          <p:nvPr/>
        </p:nvSpPr>
        <p:spPr>
          <a:xfrm>
            <a:off x="1645920" y="2926080"/>
            <a:ext cx="3922395" cy="457200"/>
          </a:xfrm>
          <a:prstGeom prst="roundRect">
            <a:avLst>
              <a:gd name="adj" fmla="val 8000"/>
            </a:avLst>
          </a:prstGeom>
          <a:solidFill>
            <a:srgbClr val="D7263D"/>
          </a:solidFill>
          <a:ln/>
        </p:spPr>
      </p:sp>
      <p:sp>
        <p:nvSpPr>
          <p:cNvPr id="15" name="Text 12"/>
          <p:cNvSpPr/>
          <p:nvPr/>
        </p:nvSpPr>
        <p:spPr>
          <a:xfrm>
            <a:off x="5659755" y="2907792"/>
            <a:ext cx="914400" cy="45720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₹3.55bn</a:t>
            </a:r>
            <a:endParaRPr lang="en-US" sz="1150" dirty="0"/>
          </a:p>
        </p:txBody>
      </p:sp>
      <p:sp>
        <p:nvSpPr>
          <p:cNvPr id="16" name="Text 13"/>
          <p:cNvSpPr/>
          <p:nvPr/>
        </p:nvSpPr>
        <p:spPr>
          <a:xfrm>
            <a:off x="731520" y="3685032"/>
            <a:ext cx="822960" cy="45720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City C</a:t>
            </a:r>
            <a:endParaRPr lang="en-US" sz="1200" dirty="0"/>
          </a:p>
        </p:txBody>
      </p:sp>
      <p:sp>
        <p:nvSpPr>
          <p:cNvPr id="17" name="Shape 14"/>
          <p:cNvSpPr/>
          <p:nvPr/>
        </p:nvSpPr>
        <p:spPr>
          <a:xfrm>
            <a:off x="1645920" y="3703320"/>
            <a:ext cx="3977640" cy="457200"/>
          </a:xfrm>
          <a:prstGeom prst="roundRect">
            <a:avLst>
              <a:gd name="adj" fmla="val 8000"/>
            </a:avLst>
          </a:prstGeom>
          <a:solidFill>
            <a:srgbClr val="EDEDED"/>
          </a:solidFill>
          <a:ln/>
        </p:spPr>
      </p:sp>
      <p:sp>
        <p:nvSpPr>
          <p:cNvPr id="18" name="Shape 15"/>
          <p:cNvSpPr/>
          <p:nvPr/>
        </p:nvSpPr>
        <p:spPr>
          <a:xfrm>
            <a:off x="1645920" y="3703320"/>
            <a:ext cx="3369945" cy="457200"/>
          </a:xfrm>
          <a:prstGeom prst="roundRect">
            <a:avLst>
              <a:gd name="adj" fmla="val 8000"/>
            </a:avLst>
          </a:prstGeom>
          <a:solidFill>
            <a:srgbClr val="1B1F3B"/>
          </a:solidFill>
          <a:ln/>
        </p:spPr>
      </p:sp>
      <p:sp>
        <p:nvSpPr>
          <p:cNvPr id="19" name="Text 16"/>
          <p:cNvSpPr/>
          <p:nvPr/>
        </p:nvSpPr>
        <p:spPr>
          <a:xfrm>
            <a:off x="5107305" y="3685032"/>
            <a:ext cx="914400" cy="45720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₹3.05bn</a:t>
            </a:r>
            <a:endParaRPr lang="en-US" sz="1150" dirty="0"/>
          </a:p>
        </p:txBody>
      </p:sp>
      <p:sp>
        <p:nvSpPr>
          <p:cNvPr id="20" name="Shape 17"/>
          <p:cNvSpPr/>
          <p:nvPr/>
        </p:nvSpPr>
        <p:spPr>
          <a:xfrm>
            <a:off x="6720840" y="1691640"/>
            <a:ext cx="4754880" cy="1280160"/>
          </a:xfrm>
          <a:prstGeom prst="roundRect">
            <a:avLst>
              <a:gd name="adj" fmla="val 5714"/>
            </a:avLst>
          </a:prstGeom>
          <a:solidFill>
            <a:srgbClr val="F7F5F3"/>
          </a:solidFill>
          <a:ln/>
        </p:spPr>
      </p:sp>
      <p:sp>
        <p:nvSpPr>
          <p:cNvPr id="21" name="Text 18"/>
          <p:cNvSpPr/>
          <p:nvPr/>
        </p:nvSpPr>
        <p:spPr>
          <a:xfrm>
            <a:off x="6949440" y="1819656"/>
            <a:ext cx="4297680" cy="320040"/>
          </a:xfrm>
          <a:prstGeom prst="rect">
            <a:avLst/>
          </a:prstGeom>
          <a:noFill/>
          <a:ln/>
        </p:spPr>
        <p:txBody>
          <a:bodyPr wrap="square" lIns="0" tIns="0" rIns="0" bIns="0" rtlCol="0" anchor="ctr"/>
          <a:lstStyle/>
          <a:p>
            <a:pPr indent="0" marL="0">
              <a:buNone/>
            </a:pPr>
            <a:r>
              <a:rPr lang="en-US" sz="1500" b="1" dirty="0">
                <a:solidFill>
                  <a:srgbClr val="D7263D"/>
                </a:solidFill>
                <a:latin typeface="Cambria" pitchFamily="34" charset="0"/>
                <a:ea typeface="Cambria" pitchFamily="34" charset="-122"/>
                <a:cs typeface="Cambria" pitchFamily="34" charset="-120"/>
              </a:rPr>
              <a:t>City B</a:t>
            </a:r>
            <a:endParaRPr lang="en-US" sz="1500" dirty="0"/>
          </a:p>
        </p:txBody>
      </p:sp>
      <p:sp>
        <p:nvSpPr>
          <p:cNvPr id="22" name="Text 19"/>
          <p:cNvSpPr/>
          <p:nvPr/>
        </p:nvSpPr>
        <p:spPr>
          <a:xfrm>
            <a:off x="6949440" y="2130552"/>
            <a:ext cx="4297680" cy="27432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Volume Leader</a:t>
            </a:r>
            <a:endParaRPr lang="en-US" sz="1150" dirty="0"/>
          </a:p>
        </p:txBody>
      </p:sp>
      <p:sp>
        <p:nvSpPr>
          <p:cNvPr id="23" name="Text 20"/>
          <p:cNvSpPr/>
          <p:nvPr/>
        </p:nvSpPr>
        <p:spPr>
          <a:xfrm>
            <a:off x="6949440" y="2404872"/>
            <a:ext cx="4297680" cy="502920"/>
          </a:xfrm>
          <a:prstGeom prst="rect">
            <a:avLst/>
          </a:prstGeom>
          <a:noFill/>
          <a:ln/>
        </p:spPr>
        <p:txBody>
          <a:bodyPr wrap="square" lIns="0" tIns="0" rIns="0" bIns="0" rtlCol="0" anchor="t"/>
          <a:lstStyle/>
          <a:p>
            <a:pPr indent="0" marL="0">
              <a:lnSpc>
                <a:spcPct val="110000"/>
              </a:lnSpc>
              <a:buNone/>
            </a:pPr>
            <a:r>
              <a:rPr lang="en-US" sz="1050" dirty="0">
                <a:solidFill>
                  <a:srgbClr val="6E6E6E"/>
                </a:solidFill>
                <a:latin typeface="Calibri" pitchFamily="34" charset="0"/>
                <a:ea typeface="Calibri" pitchFamily="34" charset="-122"/>
                <a:cs typeface="Calibri" pitchFamily="34" charset="-120"/>
              </a:rPr>
              <a:t>Highest total revenue — driven by the largest active customer base rather than the biggest average ticket.</a:t>
            </a:r>
            <a:endParaRPr lang="en-US" sz="1050" dirty="0"/>
          </a:p>
        </p:txBody>
      </p:sp>
      <p:sp>
        <p:nvSpPr>
          <p:cNvPr id="24" name="Shape 21"/>
          <p:cNvSpPr/>
          <p:nvPr/>
        </p:nvSpPr>
        <p:spPr>
          <a:xfrm>
            <a:off x="6720840" y="3200400"/>
            <a:ext cx="4754880" cy="1280160"/>
          </a:xfrm>
          <a:prstGeom prst="roundRect">
            <a:avLst>
              <a:gd name="adj" fmla="val 5714"/>
            </a:avLst>
          </a:prstGeom>
          <a:solidFill>
            <a:srgbClr val="F7F5F3"/>
          </a:solidFill>
          <a:ln/>
        </p:spPr>
      </p:sp>
      <p:sp>
        <p:nvSpPr>
          <p:cNvPr id="25" name="Text 22"/>
          <p:cNvSpPr/>
          <p:nvPr/>
        </p:nvSpPr>
        <p:spPr>
          <a:xfrm>
            <a:off x="6949440" y="3328416"/>
            <a:ext cx="4297680" cy="320040"/>
          </a:xfrm>
          <a:prstGeom prst="rect">
            <a:avLst/>
          </a:prstGeom>
          <a:noFill/>
          <a:ln/>
        </p:spPr>
        <p:txBody>
          <a:bodyPr wrap="square" lIns="0" tIns="0" rIns="0" bIns="0" rtlCol="0" anchor="ctr"/>
          <a:lstStyle/>
          <a:p>
            <a:pPr indent="0" marL="0">
              <a:buNone/>
            </a:pPr>
            <a:r>
              <a:rPr lang="en-US" sz="1500" b="1" dirty="0">
                <a:solidFill>
                  <a:srgbClr val="D7263D"/>
                </a:solidFill>
                <a:latin typeface="Cambria" pitchFamily="34" charset="0"/>
                <a:ea typeface="Cambria" pitchFamily="34" charset="-122"/>
                <a:cs typeface="Cambria" pitchFamily="34" charset="-120"/>
              </a:rPr>
              <a:t>City C</a:t>
            </a:r>
            <a:endParaRPr lang="en-US" sz="1500" dirty="0"/>
          </a:p>
        </p:txBody>
      </p:sp>
      <p:sp>
        <p:nvSpPr>
          <p:cNvPr id="26" name="Text 23"/>
          <p:cNvSpPr/>
          <p:nvPr/>
        </p:nvSpPr>
        <p:spPr>
          <a:xfrm>
            <a:off x="6949440" y="3639312"/>
            <a:ext cx="4297680" cy="27432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Value Leader</a:t>
            </a:r>
            <a:endParaRPr lang="en-US" sz="1150" dirty="0"/>
          </a:p>
        </p:txBody>
      </p:sp>
      <p:sp>
        <p:nvSpPr>
          <p:cNvPr id="27" name="Text 24"/>
          <p:cNvSpPr/>
          <p:nvPr/>
        </p:nvSpPr>
        <p:spPr>
          <a:xfrm>
            <a:off x="6949440" y="3913632"/>
            <a:ext cx="4297680" cy="502920"/>
          </a:xfrm>
          <a:prstGeom prst="rect">
            <a:avLst/>
          </a:prstGeom>
          <a:noFill/>
          <a:ln/>
        </p:spPr>
        <p:txBody>
          <a:bodyPr wrap="square" lIns="0" tIns="0" rIns="0" bIns="0" rtlCol="0" anchor="t"/>
          <a:lstStyle/>
          <a:p>
            <a:pPr indent="0" marL="0">
              <a:lnSpc>
                <a:spcPct val="110000"/>
              </a:lnSpc>
              <a:buNone/>
            </a:pPr>
            <a:r>
              <a:rPr lang="en-US" sz="1050" dirty="0">
                <a:solidFill>
                  <a:srgbClr val="6E6E6E"/>
                </a:solidFill>
                <a:latin typeface="Calibri" pitchFamily="34" charset="0"/>
                <a:ea typeface="Calibri" pitchFamily="34" charset="-122"/>
                <a:cs typeface="Calibri" pitchFamily="34" charset="-120"/>
              </a:rPr>
              <a:t>Highest average purchase per transaction — a smaller but higher-spending customer base (ANOVA-confirmed).</a:t>
            </a:r>
            <a:endParaRPr lang="en-US" sz="1050" dirty="0"/>
          </a:p>
        </p:txBody>
      </p:sp>
      <p:sp>
        <p:nvSpPr>
          <p:cNvPr id="28" name="Shape 25"/>
          <p:cNvSpPr/>
          <p:nvPr/>
        </p:nvSpPr>
        <p:spPr>
          <a:xfrm>
            <a:off x="731520" y="5074920"/>
            <a:ext cx="10698480" cy="914400"/>
          </a:xfrm>
          <a:prstGeom prst="roundRect">
            <a:avLst>
              <a:gd name="adj" fmla="val 8000"/>
            </a:avLst>
          </a:prstGeom>
          <a:solidFill>
            <a:srgbClr val="FBE4E7"/>
          </a:solidFill>
          <a:ln/>
        </p:spPr>
      </p:sp>
      <p:sp>
        <p:nvSpPr>
          <p:cNvPr id="29" name="Shape 26"/>
          <p:cNvSpPr/>
          <p:nvPr/>
        </p:nvSpPr>
        <p:spPr>
          <a:xfrm>
            <a:off x="960120" y="5230368"/>
            <a:ext cx="548640" cy="548640"/>
          </a:xfrm>
          <a:prstGeom prst="ellipse">
            <a:avLst/>
          </a:prstGeom>
          <a:solidFill>
            <a:srgbClr val="D7263D"/>
          </a:solidFill>
          <a:ln/>
        </p:spPr>
      </p:sp>
      <p:pic>
        <p:nvPicPr>
          <p:cNvPr id="30" name="Image 1" descr="img/ic_chartline.png">    </p:cNvPr>
          <p:cNvPicPr>
            <a:picLocks noChangeAspect="1"/>
          </p:cNvPicPr>
          <p:nvPr/>
        </p:nvPicPr>
        <p:blipFill>
          <a:blip r:embed="rId2"/>
          <a:stretch>
            <a:fillRect/>
          </a:stretch>
        </p:blipFill>
        <p:spPr>
          <a:xfrm>
            <a:off x="1025957" y="5296205"/>
            <a:ext cx="416966" cy="416966"/>
          </a:xfrm>
          <a:prstGeom prst="rect">
            <a:avLst/>
          </a:prstGeom>
        </p:spPr>
      </p:pic>
      <p:sp>
        <p:nvSpPr>
          <p:cNvPr id="31" name="Text 27"/>
          <p:cNvSpPr/>
          <p:nvPr/>
        </p:nvSpPr>
        <p:spPr>
          <a:xfrm>
            <a:off x="1691640" y="5074920"/>
            <a:ext cx="9509760" cy="914400"/>
          </a:xfrm>
          <a:prstGeom prst="rect">
            <a:avLst/>
          </a:prstGeom>
          <a:noFill/>
          <a:ln/>
        </p:spPr>
        <p:txBody>
          <a:bodyPr wrap="square" lIns="0" tIns="0" rIns="0" bIns="0" rtlCol="0" anchor="ctr"/>
          <a:lstStyle/>
          <a:p>
            <a:pPr indent="0" marL="0">
              <a:lnSpc>
                <a:spcPct val="115000"/>
              </a:lnSpc>
              <a:buNone/>
            </a:pPr>
            <a:r>
              <a:rPr lang="en-US" sz="1250" b="1" dirty="0">
                <a:solidFill>
                  <a:srgbClr val="1A1A1A"/>
                </a:solidFill>
                <a:latin typeface="Calibri" pitchFamily="34" charset="0"/>
                <a:ea typeface="Calibri" pitchFamily="34" charset="-122"/>
                <a:cs typeface="Calibri" pitchFamily="34" charset="-120"/>
              </a:rPr>
              <a:t>Statistical takeaway:  </a:t>
            </a:r>
            <a:pPr indent="0" marL="0">
              <a:lnSpc>
                <a:spcPct val="115000"/>
              </a:lnSpc>
              <a:buNone/>
            </a:pPr>
            <a:r>
              <a:rPr lang="en-US" sz="1250" dirty="0">
                <a:solidFill>
                  <a:srgbClr val="6E6E6E"/>
                </a:solidFill>
                <a:latin typeface="Calibri" pitchFamily="34" charset="0"/>
                <a:ea typeface="Calibri" pitchFamily="34" charset="-122"/>
                <a:cs typeface="Calibri" pitchFamily="34" charset="-120"/>
              </a:rPr>
              <a:t>City Category is the strongest driver of purchase behavior of every variable tested (ANOVA F = 1130.7) — over 27× the effect size of Age.</a:t>
            </a:r>
            <a:endParaRPr lang="en-US" sz="1250" dirty="0"/>
          </a:p>
        </p:txBody>
      </p:sp>
      <p:sp>
        <p:nvSpPr>
          <p:cNvPr id="32" name="Text 28"/>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flask.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STATISTICAL ANALYSIS</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698480" cy="2743200"/>
        </p:xfrm>
        <a:graphic>
          <a:graphicData uri="http://schemas.openxmlformats.org/drawingml/2006/table">
            <a:tbl>
              <a:tblPr/>
              <a:tblGrid>
                <a:gridCol w="4937760"/>
                <a:gridCol w="2377440"/>
                <a:gridCol w="338328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Hypothesis / Test</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B1F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B1F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B1F3B"/>
                    </a:solidFill>
                  </a:tcPr>
                </a:tc>
              </a:tr>
              <a:tr h="4572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Metro (City A) customers spend more</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ANOVA</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Not supported — City C leads</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Married customers show greater category breadth</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7F5F3"/>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T-test</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7F5F3"/>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Not supported (p = 0.731)</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7F5F3"/>
                    </a:solidFill>
                  </a:tcPr>
                </a:tc>
              </a:tr>
              <a:tr h="4572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Purchase amount varies by gender</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T-test</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Supported (p &lt; 0.001)</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Purchase varies significantly across city categories</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7F5F3"/>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ANOVA</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7F5F3"/>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Strongly supported (F = 1130.7)</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7F5F3"/>
                    </a:solidFill>
                  </a:tcPr>
                </a:tc>
              </a:tr>
              <a:tr h="4572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Occupation / city tenure predict spend</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Pearson r</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Negligible effect (r &lt; 0.03)</a:t>
                      </a:r>
                      <a:endParaRPr lang="en-US" sz="1250" dirty="0">
                        <a:latin typeface="Calibri" charset="0"/>
                        <a:ea typeface="Calibri" charset="0"/>
                        <a:cs typeface="Calibri" charset="0"/>
                      </a:endParaRP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bl>
          </a:graphicData>
        </a:graphic>
      </p:graphicFrame>
      <p:sp>
        <p:nvSpPr>
          <p:cNvPr id="8" name="Shape 4"/>
          <p:cNvSpPr/>
          <p:nvPr/>
        </p:nvSpPr>
        <p:spPr>
          <a:xfrm>
            <a:off x="731520" y="4709160"/>
            <a:ext cx="10698480" cy="1280160"/>
          </a:xfrm>
          <a:prstGeom prst="roundRect">
            <a:avLst>
              <a:gd name="adj" fmla="val 5714"/>
            </a:avLst>
          </a:prstGeom>
          <a:solidFill>
            <a:srgbClr val="FBE4E7"/>
          </a:solidFill>
          <a:ln/>
        </p:spPr>
      </p:sp>
      <p:sp>
        <p:nvSpPr>
          <p:cNvPr id="9" name="Shape 5"/>
          <p:cNvSpPr/>
          <p:nvPr/>
        </p:nvSpPr>
        <p:spPr>
          <a:xfrm>
            <a:off x="960120" y="4956048"/>
            <a:ext cx="548640" cy="548640"/>
          </a:xfrm>
          <a:prstGeom prst="ellipse">
            <a:avLst/>
          </a:prstGeom>
          <a:solidFill>
            <a:srgbClr val="D7263D"/>
          </a:solidFill>
          <a:ln/>
        </p:spPr>
      </p:sp>
      <p:pic>
        <p:nvPicPr>
          <p:cNvPr id="10" name="Image 1" descr="img/ic_bulb.png">    </p:cNvPr>
          <p:cNvPicPr>
            <a:picLocks noChangeAspect="1"/>
          </p:cNvPicPr>
          <p:nvPr/>
        </p:nvPicPr>
        <p:blipFill>
          <a:blip r:embed="rId2"/>
          <a:stretch>
            <a:fillRect/>
          </a:stretch>
        </p:blipFill>
        <p:spPr>
          <a:xfrm>
            <a:off x="1025957" y="5021885"/>
            <a:ext cx="416966" cy="416966"/>
          </a:xfrm>
          <a:prstGeom prst="rect">
            <a:avLst/>
          </a:prstGeom>
        </p:spPr>
      </p:pic>
      <p:sp>
        <p:nvSpPr>
          <p:cNvPr id="11" name="Text 6"/>
          <p:cNvSpPr/>
          <p:nvPr/>
        </p:nvSpPr>
        <p:spPr>
          <a:xfrm>
            <a:off x="1691640" y="4709160"/>
            <a:ext cx="9509760" cy="1280160"/>
          </a:xfrm>
          <a:prstGeom prst="rect">
            <a:avLst/>
          </a:prstGeom>
          <a:noFill/>
          <a:ln/>
        </p:spPr>
        <p:txBody>
          <a:bodyPr wrap="square" lIns="0" tIns="0" rIns="0" bIns="0" rtlCol="0" anchor="ctr"/>
          <a:lstStyle/>
          <a:p>
            <a:pPr indent="0" marL="0">
              <a:lnSpc>
                <a:spcPct val="120000"/>
              </a:lnSpc>
              <a:buNone/>
            </a:pPr>
            <a:r>
              <a:rPr lang="en-US" sz="1200" b="1" dirty="0">
                <a:solidFill>
                  <a:srgbClr val="1A1A1A"/>
                </a:solidFill>
                <a:latin typeface="Calibri" pitchFamily="34" charset="0"/>
                <a:ea typeface="Calibri" pitchFamily="34" charset="-122"/>
                <a:cs typeface="Calibri" pitchFamily="34" charset="-120"/>
              </a:rPr>
              <a:t>Key Conclusion:  </a:t>
            </a:r>
            <a:pPr indent="0" marL="0">
              <a:lnSpc>
                <a:spcPct val="120000"/>
              </a:lnSpc>
              <a:buNone/>
            </a:pPr>
            <a:r>
              <a:rPr lang="en-US" sz="1200" dirty="0">
                <a:solidFill>
                  <a:srgbClr val="6E6E6E"/>
                </a:solidFill>
                <a:latin typeface="Calibri" pitchFamily="34" charset="0"/>
                <a:ea typeface="Calibri" pitchFamily="34" charset="-122"/>
                <a:cs typeface="Calibri" pitchFamily="34" charset="-120"/>
              </a:rPr>
              <a:t>City Category and Gender are the two statistically and practically significant drivers of purchase behavior. Marital Status, Occupation, and City Tenure remain statistically “significant” only because of the huge sample size — their real-world effect is negligible.</a:t>
            </a:r>
            <a:endParaRPr lang="en-US" sz="1200" dirty="0"/>
          </a:p>
        </p:txBody>
      </p:sp>
      <p:sp>
        <p:nvSpPr>
          <p:cNvPr id="12" name="Text 7"/>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gauge.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POWER BI DASHBOARDS</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Text 4"/>
          <p:cNvSpPr/>
          <p:nvPr/>
        </p:nvSpPr>
        <p:spPr>
          <a:xfrm>
            <a:off x="731520" y="1645920"/>
            <a:ext cx="5303520" cy="320040"/>
          </a:xfrm>
          <a:prstGeom prst="rect">
            <a:avLst/>
          </a:prstGeom>
          <a:noFill/>
          <a:ln/>
        </p:spPr>
        <p:txBody>
          <a:bodyPr wrap="square" lIns="0" tIns="0" rIns="0" bIns="0" rtlCol="0" anchor="ctr"/>
          <a:lstStyle/>
          <a:p>
            <a:pPr indent="0" marL="0">
              <a:buNone/>
            </a:pPr>
            <a:r>
              <a:rPr lang="en-US" sz="1400" b="1" dirty="0">
                <a:solidFill>
                  <a:srgbClr val="D7263D"/>
                </a:solidFill>
                <a:latin typeface="Cambria" pitchFamily="34" charset="0"/>
                <a:ea typeface="Cambria" pitchFamily="34" charset="-122"/>
                <a:cs typeface="Cambria" pitchFamily="34" charset="-120"/>
              </a:rPr>
              <a:t>Executive Dashboard</a:t>
            </a:r>
            <a:endParaRPr lang="en-US" sz="1400" dirty="0"/>
          </a:p>
        </p:txBody>
      </p:sp>
      <p:sp>
        <p:nvSpPr>
          <p:cNvPr id="8" name="Shape 5"/>
          <p:cNvSpPr/>
          <p:nvPr/>
        </p:nvSpPr>
        <p:spPr>
          <a:xfrm>
            <a:off x="731520" y="1965960"/>
            <a:ext cx="5349240" cy="3246120"/>
          </a:xfrm>
          <a:prstGeom prst="roundRect">
            <a:avLst>
              <a:gd name="adj" fmla="val 1408"/>
            </a:avLst>
          </a:prstGeom>
          <a:solidFill>
            <a:srgbClr val="FFFFFF"/>
          </a:solidFill>
          <a:ln w="12700">
            <a:solidFill>
              <a:srgbClr val="E0E0E0"/>
            </a:solidFill>
            <a:prstDash val="solid"/>
          </a:ln>
          <a:effectLst>
            <a:outerShdw sx="100000" sy="100000" kx="0" ky="0" algn="bl" rotWithShape="0" blurRad="101600" dist="25400" dir="5400000">
              <a:srgbClr val="000000">
                <a:alpha val="15000"/>
              </a:srgbClr>
            </a:outerShdw>
          </a:effectLst>
        </p:spPr>
      </p:sp>
      <p:pic>
        <p:nvPicPr>
          <p:cNvPr id="9" name="Image 1" descr="img/exec_dash_tight_v2.png">    </p:cNvPr>
          <p:cNvPicPr>
            <a:picLocks noChangeAspect="1"/>
          </p:cNvPicPr>
          <p:nvPr/>
        </p:nvPicPr>
        <p:blipFill>
          <a:blip r:embed="rId2"/>
          <a:stretch>
            <a:fillRect/>
          </a:stretch>
        </p:blipFill>
        <p:spPr>
          <a:xfrm>
            <a:off x="841248" y="2075688"/>
            <a:ext cx="5129784" cy="3017520"/>
          </a:xfrm>
          <a:prstGeom prst="rect">
            <a:avLst/>
          </a:prstGeom>
        </p:spPr>
      </p:pic>
      <p:sp>
        <p:nvSpPr>
          <p:cNvPr id="10" name="Text 6"/>
          <p:cNvSpPr/>
          <p:nvPr/>
        </p:nvSpPr>
        <p:spPr>
          <a:xfrm>
            <a:off x="731520" y="5257800"/>
            <a:ext cx="5349240" cy="685800"/>
          </a:xfrm>
          <a:prstGeom prst="rect">
            <a:avLst/>
          </a:prstGeom>
          <a:noFill/>
          <a:ln/>
        </p:spPr>
        <p:txBody>
          <a:bodyPr wrap="square" lIns="0" tIns="0" rIns="0" bIns="0" rtlCol="0" anchor="ctr"/>
          <a:lstStyle/>
          <a:p>
            <a:pPr indent="0" marL="0">
              <a:lnSpc>
                <a:spcPct val="115000"/>
              </a:lnSpc>
              <a:buNone/>
            </a:pPr>
            <a:r>
              <a:rPr lang="en-US" sz="1050" dirty="0">
                <a:solidFill>
                  <a:srgbClr val="6E6E6E"/>
                </a:solidFill>
                <a:latin typeface="Calibri" pitchFamily="34" charset="0"/>
                <a:ea typeface="Calibri" pitchFamily="34" charset="-122"/>
                <a:cs typeface="Calibri" pitchFamily="34" charset="-120"/>
              </a:rPr>
              <a:t>Total Sales, Avg. Purchase/Customer, Top Customers &amp; Products, City-wise revenue — with live Age / Occupation / Gender / Category filters.</a:t>
            </a:r>
            <a:endParaRPr lang="en-US" sz="1050" dirty="0"/>
          </a:p>
        </p:txBody>
      </p:sp>
      <p:sp>
        <p:nvSpPr>
          <p:cNvPr id="11" name="Text 7"/>
          <p:cNvSpPr/>
          <p:nvPr/>
        </p:nvSpPr>
        <p:spPr>
          <a:xfrm>
            <a:off x="6263640" y="1645920"/>
            <a:ext cx="5303520" cy="320040"/>
          </a:xfrm>
          <a:prstGeom prst="rect">
            <a:avLst/>
          </a:prstGeom>
          <a:noFill/>
          <a:ln/>
        </p:spPr>
        <p:txBody>
          <a:bodyPr wrap="square" lIns="0" tIns="0" rIns="0" bIns="0" rtlCol="0" anchor="ctr"/>
          <a:lstStyle/>
          <a:p>
            <a:pPr indent="0" marL="0">
              <a:buNone/>
            </a:pPr>
            <a:r>
              <a:rPr lang="en-US" sz="1400" b="1" dirty="0">
                <a:solidFill>
                  <a:srgbClr val="D7263D"/>
                </a:solidFill>
                <a:latin typeface="Cambria" pitchFamily="34" charset="0"/>
                <a:ea typeface="Cambria" pitchFamily="34" charset="-122"/>
                <a:cs typeface="Cambria" pitchFamily="34" charset="-120"/>
              </a:rPr>
              <a:t>Marketing Dashboard</a:t>
            </a:r>
            <a:endParaRPr lang="en-US" sz="1400" dirty="0"/>
          </a:p>
        </p:txBody>
      </p:sp>
      <p:sp>
        <p:nvSpPr>
          <p:cNvPr id="12" name="Shape 8"/>
          <p:cNvSpPr/>
          <p:nvPr/>
        </p:nvSpPr>
        <p:spPr>
          <a:xfrm>
            <a:off x="6263640" y="1965960"/>
            <a:ext cx="5349240" cy="3246120"/>
          </a:xfrm>
          <a:prstGeom prst="roundRect">
            <a:avLst>
              <a:gd name="adj" fmla="val 1408"/>
            </a:avLst>
          </a:prstGeom>
          <a:solidFill>
            <a:srgbClr val="FFFFFF"/>
          </a:solidFill>
          <a:ln w="12700">
            <a:solidFill>
              <a:srgbClr val="E0E0E0"/>
            </a:solidFill>
            <a:prstDash val="solid"/>
          </a:ln>
          <a:effectLst>
            <a:outerShdw sx="100000" sy="100000" kx="0" ky="0" algn="bl" rotWithShape="0" blurRad="101600" dist="25400" dir="5400000">
              <a:srgbClr val="000000">
                <a:alpha val="15000"/>
              </a:srgbClr>
            </a:outerShdw>
          </a:effectLst>
        </p:spPr>
      </p:sp>
      <p:pic>
        <p:nvPicPr>
          <p:cNvPr id="13" name="Image 2" descr="img/marketing_dash_tight_v2.png">    </p:cNvPr>
          <p:cNvPicPr>
            <a:picLocks noChangeAspect="1"/>
          </p:cNvPicPr>
          <p:nvPr/>
        </p:nvPicPr>
        <p:blipFill>
          <a:blip r:embed="rId3"/>
          <a:stretch>
            <a:fillRect/>
          </a:stretch>
        </p:blipFill>
        <p:spPr>
          <a:xfrm>
            <a:off x="6373368" y="2075688"/>
            <a:ext cx="5129784" cy="3017520"/>
          </a:xfrm>
          <a:prstGeom prst="rect">
            <a:avLst/>
          </a:prstGeom>
        </p:spPr>
      </p:pic>
      <p:sp>
        <p:nvSpPr>
          <p:cNvPr id="14" name="Text 9"/>
          <p:cNvSpPr/>
          <p:nvPr/>
        </p:nvSpPr>
        <p:spPr>
          <a:xfrm>
            <a:off x="6263640" y="5257800"/>
            <a:ext cx="5349240" cy="685800"/>
          </a:xfrm>
          <a:prstGeom prst="rect">
            <a:avLst/>
          </a:prstGeom>
          <a:noFill/>
          <a:ln/>
        </p:spPr>
        <p:txBody>
          <a:bodyPr wrap="square" lIns="0" tIns="0" rIns="0" bIns="0" rtlCol="0" anchor="ctr"/>
          <a:lstStyle/>
          <a:p>
            <a:pPr indent="0" marL="0">
              <a:lnSpc>
                <a:spcPct val="115000"/>
              </a:lnSpc>
              <a:buNone/>
            </a:pPr>
            <a:r>
              <a:rPr lang="en-US" sz="1050" dirty="0">
                <a:solidFill>
                  <a:srgbClr val="6E6E6E"/>
                </a:solidFill>
                <a:latin typeface="Calibri" pitchFamily="34" charset="0"/>
                <a:ea typeface="Calibri" pitchFamily="34" charset="-122"/>
                <a:cs typeface="Calibri" pitchFamily="34" charset="-120"/>
              </a:rPr>
              <a:t>Age/Gender segmentation, Repeat Purchase Rate, Category Penetration, and the Customer Segment breakdown (High-Value Loyal / Loyal / Regular).</a:t>
            </a:r>
            <a:endParaRPr lang="en-US" sz="1050" dirty="0"/>
          </a:p>
        </p:txBody>
      </p:sp>
      <p:sp>
        <p:nvSpPr>
          <p:cNvPr id="15" name="Text 10"/>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bulb.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TOP 5 BUSINESS INSIGHTS</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783080"/>
            <a:ext cx="457200" cy="457200"/>
          </a:xfrm>
          <a:prstGeom prst="ellipse">
            <a:avLst/>
          </a:prstGeom>
          <a:solidFill>
            <a:srgbClr val="D7263D"/>
          </a:solidFill>
          <a:ln/>
        </p:spPr>
      </p:sp>
      <p:sp>
        <p:nvSpPr>
          <p:cNvPr id="8" name="Text 5"/>
          <p:cNvSpPr/>
          <p:nvPr/>
        </p:nvSpPr>
        <p:spPr>
          <a:xfrm>
            <a:off x="73152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1371600" y="1737360"/>
            <a:ext cx="9692640" cy="320040"/>
          </a:xfrm>
          <a:prstGeom prst="rect">
            <a:avLst/>
          </a:prstGeom>
          <a:noFill/>
          <a:ln/>
        </p:spPr>
        <p:txBody>
          <a:bodyPr wrap="square" lIns="0" tIns="0" rIns="0" bIns="0" rtlCol="0" anchor="ctr"/>
          <a:lstStyle/>
          <a:p>
            <a:pPr indent="0" marL="0">
              <a:buNone/>
            </a:pPr>
            <a:r>
              <a:rPr lang="en-US" sz="1350" b="1" dirty="0">
                <a:solidFill>
                  <a:srgbClr val="1A1A1A"/>
                </a:solidFill>
                <a:latin typeface="Cambria" pitchFamily="34" charset="0"/>
                <a:ea typeface="Cambria" pitchFamily="34" charset="-122"/>
                <a:cs typeface="Cambria" pitchFamily="34" charset="-120"/>
              </a:rPr>
              <a:t>Gender significantly drives purchase value.</a:t>
            </a:r>
            <a:endParaRPr lang="en-US" sz="1350" dirty="0"/>
          </a:p>
        </p:txBody>
      </p:sp>
      <p:sp>
        <p:nvSpPr>
          <p:cNvPr id="10" name="Text 7"/>
          <p:cNvSpPr/>
          <p:nvPr/>
        </p:nvSpPr>
        <p:spPr>
          <a:xfrm>
            <a:off x="1371600" y="2029968"/>
            <a:ext cx="9692640" cy="411480"/>
          </a:xfrm>
          <a:prstGeom prst="rect">
            <a:avLst/>
          </a:prstGeom>
          <a:noFill/>
          <a:ln/>
        </p:spPr>
        <p:txBody>
          <a:bodyPr wrap="square" lIns="0" tIns="0" rIns="0" bIns="0" rtlCol="0" anchor="ctr"/>
          <a:lstStyle/>
          <a:p>
            <a:pPr indent="0" marL="0">
              <a:lnSpc>
                <a:spcPct val="110000"/>
              </a:lnSpc>
              <a:buNone/>
            </a:pPr>
            <a:r>
              <a:rPr lang="en-US" sz="1150" dirty="0">
                <a:solidFill>
                  <a:srgbClr val="6E6E6E"/>
                </a:solidFill>
                <a:latin typeface="Calibri" pitchFamily="34" charset="0"/>
                <a:ea typeface="Calibri" pitchFamily="34" charset="-122"/>
                <a:cs typeface="Calibri" pitchFamily="34" charset="-120"/>
              </a:rPr>
              <a:t>Male customers average ₹9,437.53/txn vs. ₹8,734.57 for female customers (p &lt; 0.001).</a:t>
            </a:r>
            <a:endParaRPr lang="en-US" sz="1150" dirty="0"/>
          </a:p>
        </p:txBody>
      </p:sp>
      <p:sp>
        <p:nvSpPr>
          <p:cNvPr id="11" name="Shape 8"/>
          <p:cNvSpPr/>
          <p:nvPr/>
        </p:nvSpPr>
        <p:spPr>
          <a:xfrm>
            <a:off x="1371600" y="2468880"/>
            <a:ext cx="9692640" cy="0"/>
          </a:xfrm>
          <a:prstGeom prst="line">
            <a:avLst/>
          </a:prstGeom>
          <a:noFill/>
          <a:ln w="9525">
            <a:solidFill>
              <a:srgbClr val="EAEAEA"/>
            </a:solidFill>
            <a:prstDash val="solid"/>
          </a:ln>
        </p:spPr>
      </p:sp>
      <p:sp>
        <p:nvSpPr>
          <p:cNvPr id="12" name="Shape 9"/>
          <p:cNvSpPr/>
          <p:nvPr/>
        </p:nvSpPr>
        <p:spPr>
          <a:xfrm>
            <a:off x="731520" y="2624328"/>
            <a:ext cx="457200" cy="457200"/>
          </a:xfrm>
          <a:prstGeom prst="ellipse">
            <a:avLst/>
          </a:prstGeom>
          <a:solidFill>
            <a:srgbClr val="D7263D"/>
          </a:solidFill>
          <a:ln/>
        </p:spPr>
      </p:sp>
      <p:sp>
        <p:nvSpPr>
          <p:cNvPr id="13" name="Text 10"/>
          <p:cNvSpPr/>
          <p:nvPr/>
        </p:nvSpPr>
        <p:spPr>
          <a:xfrm>
            <a:off x="731520" y="26243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p:nvPr/>
        </p:nvSpPr>
        <p:spPr>
          <a:xfrm>
            <a:off x="1371600" y="2578608"/>
            <a:ext cx="9692640" cy="320040"/>
          </a:xfrm>
          <a:prstGeom prst="rect">
            <a:avLst/>
          </a:prstGeom>
          <a:noFill/>
          <a:ln/>
        </p:spPr>
        <p:txBody>
          <a:bodyPr wrap="square" lIns="0" tIns="0" rIns="0" bIns="0" rtlCol="0" anchor="ctr"/>
          <a:lstStyle/>
          <a:p>
            <a:pPr indent="0" marL="0">
              <a:buNone/>
            </a:pPr>
            <a:r>
              <a:rPr lang="en-US" sz="1350" b="1" dirty="0">
                <a:solidFill>
                  <a:srgbClr val="1A1A1A"/>
                </a:solidFill>
                <a:latin typeface="Cambria" pitchFamily="34" charset="0"/>
                <a:ea typeface="Cambria" pitchFamily="34" charset="-122"/>
                <a:cs typeface="Cambria" pitchFamily="34" charset="-120"/>
              </a:rPr>
              <a:t>City Category is the strongest — and most counterintuitive — driver of spend.</a:t>
            </a:r>
            <a:endParaRPr lang="en-US" sz="1350" dirty="0"/>
          </a:p>
        </p:txBody>
      </p:sp>
      <p:sp>
        <p:nvSpPr>
          <p:cNvPr id="15" name="Text 12"/>
          <p:cNvSpPr/>
          <p:nvPr/>
        </p:nvSpPr>
        <p:spPr>
          <a:xfrm>
            <a:off x="1371600" y="2871216"/>
            <a:ext cx="9692640" cy="411480"/>
          </a:xfrm>
          <a:prstGeom prst="rect">
            <a:avLst/>
          </a:prstGeom>
          <a:noFill/>
          <a:ln/>
        </p:spPr>
        <p:txBody>
          <a:bodyPr wrap="square" lIns="0" tIns="0" rIns="0" bIns="0" rtlCol="0" anchor="ctr"/>
          <a:lstStyle/>
          <a:p>
            <a:pPr indent="0" marL="0">
              <a:lnSpc>
                <a:spcPct val="110000"/>
              </a:lnSpc>
              <a:buNone/>
            </a:pPr>
            <a:r>
              <a:rPr lang="en-US" sz="1150" dirty="0">
                <a:solidFill>
                  <a:srgbClr val="6E6E6E"/>
                </a:solidFill>
                <a:latin typeface="Calibri" pitchFamily="34" charset="0"/>
                <a:ea typeface="Calibri" pitchFamily="34" charset="-122"/>
                <a:cs typeface="Calibri" pitchFamily="34" charset="-120"/>
              </a:rPr>
              <a:t>City C leads on average purchase; City B leads on total revenue via volume, not “metro” City A.</a:t>
            </a:r>
            <a:endParaRPr lang="en-US" sz="1150" dirty="0"/>
          </a:p>
        </p:txBody>
      </p:sp>
      <p:sp>
        <p:nvSpPr>
          <p:cNvPr id="16" name="Shape 13"/>
          <p:cNvSpPr/>
          <p:nvPr/>
        </p:nvSpPr>
        <p:spPr>
          <a:xfrm>
            <a:off x="1371600" y="3310128"/>
            <a:ext cx="9692640" cy="0"/>
          </a:xfrm>
          <a:prstGeom prst="line">
            <a:avLst/>
          </a:prstGeom>
          <a:noFill/>
          <a:ln w="9525">
            <a:solidFill>
              <a:srgbClr val="EAEAEA"/>
            </a:solidFill>
            <a:prstDash val="solid"/>
          </a:ln>
        </p:spPr>
      </p:sp>
      <p:sp>
        <p:nvSpPr>
          <p:cNvPr id="17" name="Shape 14"/>
          <p:cNvSpPr/>
          <p:nvPr/>
        </p:nvSpPr>
        <p:spPr>
          <a:xfrm>
            <a:off x="731520" y="3465576"/>
            <a:ext cx="457200" cy="457200"/>
          </a:xfrm>
          <a:prstGeom prst="ellipse">
            <a:avLst/>
          </a:prstGeom>
          <a:solidFill>
            <a:srgbClr val="D7263D"/>
          </a:solidFill>
          <a:ln/>
        </p:spPr>
      </p:sp>
      <p:sp>
        <p:nvSpPr>
          <p:cNvPr id="18" name="Text 15"/>
          <p:cNvSpPr/>
          <p:nvPr/>
        </p:nvSpPr>
        <p:spPr>
          <a:xfrm>
            <a:off x="731520" y="34655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6"/>
          <p:cNvSpPr/>
          <p:nvPr/>
        </p:nvSpPr>
        <p:spPr>
          <a:xfrm>
            <a:off x="1371600" y="3419856"/>
            <a:ext cx="9692640" cy="320040"/>
          </a:xfrm>
          <a:prstGeom prst="rect">
            <a:avLst/>
          </a:prstGeom>
          <a:noFill/>
          <a:ln/>
        </p:spPr>
        <p:txBody>
          <a:bodyPr wrap="square" lIns="0" tIns="0" rIns="0" bIns="0" rtlCol="0" anchor="ctr"/>
          <a:lstStyle/>
          <a:p>
            <a:pPr indent="0" marL="0">
              <a:buNone/>
            </a:pPr>
            <a:r>
              <a:rPr lang="en-US" sz="1350" b="1" dirty="0">
                <a:solidFill>
                  <a:srgbClr val="1A1A1A"/>
                </a:solidFill>
                <a:latin typeface="Cambria" pitchFamily="34" charset="0"/>
                <a:ea typeface="Cambria" pitchFamily="34" charset="-122"/>
                <a:cs typeface="Cambria" pitchFamily="34" charset="-120"/>
              </a:rPr>
              <a:t>This customer base is exceptionally loyal.</a:t>
            </a:r>
            <a:endParaRPr lang="en-US" sz="1350" dirty="0"/>
          </a:p>
        </p:txBody>
      </p:sp>
      <p:sp>
        <p:nvSpPr>
          <p:cNvPr id="20" name="Text 17"/>
          <p:cNvSpPr/>
          <p:nvPr/>
        </p:nvSpPr>
        <p:spPr>
          <a:xfrm>
            <a:off x="1371600" y="3712464"/>
            <a:ext cx="9692640" cy="411480"/>
          </a:xfrm>
          <a:prstGeom prst="rect">
            <a:avLst/>
          </a:prstGeom>
          <a:noFill/>
          <a:ln/>
        </p:spPr>
        <p:txBody>
          <a:bodyPr wrap="square" lIns="0" tIns="0" rIns="0" bIns="0" rtlCol="0" anchor="ctr"/>
          <a:lstStyle/>
          <a:p>
            <a:pPr indent="0" marL="0">
              <a:lnSpc>
                <a:spcPct val="110000"/>
              </a:lnSpc>
              <a:buNone/>
            </a:pPr>
            <a:r>
              <a:rPr lang="en-US" sz="1150" dirty="0">
                <a:solidFill>
                  <a:srgbClr val="6E6E6E"/>
                </a:solidFill>
                <a:latin typeface="Calibri" pitchFamily="34" charset="0"/>
                <a:ea typeface="Calibri" pitchFamily="34" charset="-122"/>
                <a:cs typeface="Calibri" pitchFamily="34" charset="-120"/>
              </a:rPr>
              <a:t>~93 transactions per customer on average; effectively no one-time-buyer segment exists.</a:t>
            </a:r>
            <a:endParaRPr lang="en-US" sz="1150" dirty="0"/>
          </a:p>
        </p:txBody>
      </p:sp>
      <p:sp>
        <p:nvSpPr>
          <p:cNvPr id="21" name="Shape 18"/>
          <p:cNvSpPr/>
          <p:nvPr/>
        </p:nvSpPr>
        <p:spPr>
          <a:xfrm>
            <a:off x="1371600" y="4151376"/>
            <a:ext cx="9692640" cy="0"/>
          </a:xfrm>
          <a:prstGeom prst="line">
            <a:avLst/>
          </a:prstGeom>
          <a:noFill/>
          <a:ln w="9525">
            <a:solidFill>
              <a:srgbClr val="EAEAEA"/>
            </a:solidFill>
            <a:prstDash val="solid"/>
          </a:ln>
        </p:spPr>
      </p:sp>
      <p:sp>
        <p:nvSpPr>
          <p:cNvPr id="22" name="Shape 19"/>
          <p:cNvSpPr/>
          <p:nvPr/>
        </p:nvSpPr>
        <p:spPr>
          <a:xfrm>
            <a:off x="731520" y="4306824"/>
            <a:ext cx="457200" cy="457200"/>
          </a:xfrm>
          <a:prstGeom prst="ellipse">
            <a:avLst/>
          </a:prstGeom>
          <a:solidFill>
            <a:srgbClr val="D7263D"/>
          </a:solidFill>
          <a:ln/>
        </p:spPr>
      </p:sp>
      <p:sp>
        <p:nvSpPr>
          <p:cNvPr id="23" name="Text 20"/>
          <p:cNvSpPr/>
          <p:nvPr/>
        </p:nvSpPr>
        <p:spPr>
          <a:xfrm>
            <a:off x="731520" y="43068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1"/>
          <p:cNvSpPr/>
          <p:nvPr/>
        </p:nvSpPr>
        <p:spPr>
          <a:xfrm>
            <a:off x="1371600" y="4261104"/>
            <a:ext cx="9692640" cy="320040"/>
          </a:xfrm>
          <a:prstGeom prst="rect">
            <a:avLst/>
          </a:prstGeom>
          <a:noFill/>
          <a:ln/>
        </p:spPr>
        <p:txBody>
          <a:bodyPr wrap="square" lIns="0" tIns="0" rIns="0" bIns="0" rtlCol="0" anchor="ctr"/>
          <a:lstStyle/>
          <a:p>
            <a:pPr indent="0" marL="0">
              <a:buNone/>
            </a:pPr>
            <a:r>
              <a:rPr lang="en-US" sz="1350" b="1" dirty="0">
                <a:solidFill>
                  <a:srgbClr val="1A1A1A"/>
                </a:solidFill>
                <a:latin typeface="Cambria" pitchFamily="34" charset="0"/>
                <a:ea typeface="Cambria" pitchFamily="34" charset="-122"/>
                <a:cs typeface="Cambria" pitchFamily="34" charset="-120"/>
              </a:rPr>
              <a:t>A small set of products and categories drives disproportionate revenue.</a:t>
            </a:r>
            <a:endParaRPr lang="en-US" sz="1350" dirty="0"/>
          </a:p>
        </p:txBody>
      </p:sp>
      <p:sp>
        <p:nvSpPr>
          <p:cNvPr id="25" name="Text 22"/>
          <p:cNvSpPr/>
          <p:nvPr/>
        </p:nvSpPr>
        <p:spPr>
          <a:xfrm>
            <a:off x="1371600" y="4553712"/>
            <a:ext cx="9692640" cy="411480"/>
          </a:xfrm>
          <a:prstGeom prst="rect">
            <a:avLst/>
          </a:prstGeom>
          <a:noFill/>
          <a:ln/>
        </p:spPr>
        <p:txBody>
          <a:bodyPr wrap="square" lIns="0" tIns="0" rIns="0" bIns="0" rtlCol="0" anchor="ctr"/>
          <a:lstStyle/>
          <a:p>
            <a:pPr indent="0" marL="0">
              <a:lnSpc>
                <a:spcPct val="110000"/>
              </a:lnSpc>
              <a:buNone/>
            </a:pPr>
            <a:r>
              <a:rPr lang="en-US" sz="1150" dirty="0">
                <a:solidFill>
                  <a:srgbClr val="6E6E6E"/>
                </a:solidFill>
                <a:latin typeface="Calibri" pitchFamily="34" charset="0"/>
                <a:ea typeface="Calibri" pitchFamily="34" charset="-122"/>
                <a:cs typeface="Calibri" pitchFamily="34" charset="-120"/>
              </a:rPr>
              <a:t>One product alone (P00025442) generated ₹27.99M; Categories 1, 5, 8 dominate volume.</a:t>
            </a:r>
            <a:endParaRPr lang="en-US" sz="1150" dirty="0"/>
          </a:p>
        </p:txBody>
      </p:sp>
      <p:sp>
        <p:nvSpPr>
          <p:cNvPr id="26" name="Shape 23"/>
          <p:cNvSpPr/>
          <p:nvPr/>
        </p:nvSpPr>
        <p:spPr>
          <a:xfrm>
            <a:off x="1371600" y="4992624"/>
            <a:ext cx="9692640" cy="0"/>
          </a:xfrm>
          <a:prstGeom prst="line">
            <a:avLst/>
          </a:prstGeom>
          <a:noFill/>
          <a:ln w="9525">
            <a:solidFill>
              <a:srgbClr val="EAEAEA"/>
            </a:solidFill>
            <a:prstDash val="solid"/>
          </a:ln>
        </p:spPr>
      </p:sp>
      <p:sp>
        <p:nvSpPr>
          <p:cNvPr id="27" name="Shape 24"/>
          <p:cNvSpPr/>
          <p:nvPr/>
        </p:nvSpPr>
        <p:spPr>
          <a:xfrm>
            <a:off x="731520" y="5148072"/>
            <a:ext cx="457200" cy="457200"/>
          </a:xfrm>
          <a:prstGeom prst="ellipse">
            <a:avLst/>
          </a:prstGeom>
          <a:solidFill>
            <a:srgbClr val="D7263D"/>
          </a:solidFill>
          <a:ln/>
        </p:spPr>
      </p:sp>
      <p:sp>
        <p:nvSpPr>
          <p:cNvPr id="28" name="Text 25"/>
          <p:cNvSpPr/>
          <p:nvPr/>
        </p:nvSpPr>
        <p:spPr>
          <a:xfrm>
            <a:off x="731520" y="51480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6"/>
          <p:cNvSpPr/>
          <p:nvPr/>
        </p:nvSpPr>
        <p:spPr>
          <a:xfrm>
            <a:off x="1371600" y="5102352"/>
            <a:ext cx="9692640" cy="320040"/>
          </a:xfrm>
          <a:prstGeom prst="rect">
            <a:avLst/>
          </a:prstGeom>
          <a:noFill/>
          <a:ln/>
        </p:spPr>
        <p:txBody>
          <a:bodyPr wrap="square" lIns="0" tIns="0" rIns="0" bIns="0" rtlCol="0" anchor="ctr"/>
          <a:lstStyle/>
          <a:p>
            <a:pPr indent="0" marL="0">
              <a:buNone/>
            </a:pPr>
            <a:r>
              <a:rPr lang="en-US" sz="1350" b="1" dirty="0">
                <a:solidFill>
                  <a:srgbClr val="1A1A1A"/>
                </a:solidFill>
                <a:latin typeface="Cambria" pitchFamily="34" charset="0"/>
                <a:ea typeface="Cambria" pitchFamily="34" charset="-122"/>
                <a:cs typeface="Cambria" pitchFamily="34" charset="-120"/>
              </a:rPr>
              <a:t>Marital status does not meaningfully affect spending.</a:t>
            </a:r>
            <a:endParaRPr lang="en-US" sz="1350" dirty="0"/>
          </a:p>
        </p:txBody>
      </p:sp>
      <p:sp>
        <p:nvSpPr>
          <p:cNvPr id="30" name="Text 27"/>
          <p:cNvSpPr/>
          <p:nvPr/>
        </p:nvSpPr>
        <p:spPr>
          <a:xfrm>
            <a:off x="1371600" y="5394960"/>
            <a:ext cx="9692640" cy="411480"/>
          </a:xfrm>
          <a:prstGeom prst="rect">
            <a:avLst/>
          </a:prstGeom>
          <a:noFill/>
          <a:ln/>
        </p:spPr>
        <p:txBody>
          <a:bodyPr wrap="square" lIns="0" tIns="0" rIns="0" bIns="0" rtlCol="0" anchor="ctr"/>
          <a:lstStyle/>
          <a:p>
            <a:pPr indent="0" marL="0">
              <a:lnSpc>
                <a:spcPct val="110000"/>
              </a:lnSpc>
              <a:buNone/>
            </a:pPr>
            <a:r>
              <a:rPr lang="en-US" sz="1150" dirty="0">
                <a:solidFill>
                  <a:srgbClr val="6E6E6E"/>
                </a:solidFill>
                <a:latin typeface="Calibri" pitchFamily="34" charset="0"/>
                <a:ea typeface="Calibri" pitchFamily="34" charset="-122"/>
                <a:cs typeface="Calibri" pitchFamily="34" charset="-120"/>
              </a:rPr>
              <a:t>An initial hypothesis, disproved: Single vs. Married spend is statistically identical (p = 0.731).</a:t>
            </a:r>
            <a:endParaRPr lang="en-US" sz="1150" dirty="0"/>
          </a:p>
        </p:txBody>
      </p:sp>
      <p:sp>
        <p:nvSpPr>
          <p:cNvPr id="31" name="Text 28"/>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07040" y="-2011680"/>
            <a:ext cx="5029200" cy="5029200"/>
          </a:xfrm>
          <a:prstGeom prst="ellipse">
            <a:avLst/>
          </a:prstGeom>
          <a:solidFill>
            <a:srgbClr val="D7263D">
              <a:alpha val="12000"/>
            </a:srgbClr>
          </a:solidFill>
          <a:ln/>
        </p:spPr>
      </p:sp>
      <p:sp>
        <p:nvSpPr>
          <p:cNvPr id="3" name="Shape 1"/>
          <p:cNvSpPr/>
          <p:nvPr/>
        </p:nvSpPr>
        <p:spPr>
          <a:xfrm>
            <a:off x="548640" y="502920"/>
            <a:ext cx="658368" cy="658368"/>
          </a:xfrm>
          <a:prstGeom prst="ellipse">
            <a:avLst/>
          </a:prstGeom>
          <a:solidFill>
            <a:srgbClr val="D7263D"/>
          </a:solidFill>
          <a:ln/>
        </p:spPr>
      </p:sp>
      <p:pic>
        <p:nvPicPr>
          <p:cNvPr id="4" name="Image 0" descr="img/ic_target.png">    </p:cNvPr>
          <p:cNvPicPr>
            <a:picLocks noChangeAspect="1"/>
          </p:cNvPicPr>
          <p:nvPr/>
        </p:nvPicPr>
        <p:blipFill>
          <a:blip r:embed="rId1"/>
          <a:stretch>
            <a:fillRect/>
          </a:stretch>
        </p:blipFill>
        <p:spPr>
          <a:xfrm>
            <a:off x="627644" y="581924"/>
            <a:ext cx="500360" cy="500360"/>
          </a:xfrm>
          <a:prstGeom prst="rect">
            <a:avLst/>
          </a:prstGeom>
        </p:spPr>
      </p:pic>
      <p:sp>
        <p:nvSpPr>
          <p:cNvPr id="5" name="Text 2"/>
          <p:cNvSpPr/>
          <p:nvPr/>
        </p:nvSpPr>
        <p:spPr>
          <a:xfrm>
            <a:off x="1371600" y="457200"/>
            <a:ext cx="9601200" cy="73152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STRATEGIC RECOMMENDATIONS</a:t>
            </a:r>
            <a:endParaRPr lang="en-US" sz="3000" dirty="0"/>
          </a:p>
        </p:txBody>
      </p:sp>
      <p:sp>
        <p:nvSpPr>
          <p:cNvPr id="6" name="Text 3"/>
          <p:cNvSpPr/>
          <p:nvPr/>
        </p:nvSpPr>
        <p:spPr>
          <a:xfrm>
            <a:off x="8778240" y="621792"/>
            <a:ext cx="2834640" cy="32004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BLACK FRIDAY SALES ANALYSIS</a:t>
            </a:r>
            <a:endParaRPr lang="en-US" sz="1000" dirty="0"/>
          </a:p>
        </p:txBody>
      </p:sp>
      <p:sp>
        <p:nvSpPr>
          <p:cNvPr id="7" name="Shape 4"/>
          <p:cNvSpPr/>
          <p:nvPr/>
        </p:nvSpPr>
        <p:spPr>
          <a:xfrm>
            <a:off x="731520" y="1737360"/>
            <a:ext cx="5166360" cy="2103120"/>
          </a:xfrm>
          <a:prstGeom prst="roundRect">
            <a:avLst>
              <a:gd name="adj" fmla="val 3478"/>
            </a:avLst>
          </a:prstGeom>
          <a:solidFill>
            <a:srgbClr val="F7F5F3"/>
          </a:solidFill>
          <a:ln/>
        </p:spPr>
      </p:sp>
      <p:sp>
        <p:nvSpPr>
          <p:cNvPr id="8" name="Shape 5"/>
          <p:cNvSpPr/>
          <p:nvPr/>
        </p:nvSpPr>
        <p:spPr>
          <a:xfrm>
            <a:off x="960120" y="1965960"/>
            <a:ext cx="457200" cy="457200"/>
          </a:xfrm>
          <a:prstGeom prst="ellipse">
            <a:avLst/>
          </a:prstGeom>
          <a:solidFill>
            <a:srgbClr val="D7263D"/>
          </a:solidFill>
          <a:ln/>
        </p:spPr>
      </p:sp>
      <p:sp>
        <p:nvSpPr>
          <p:cNvPr id="9" name="Text 6"/>
          <p:cNvSpPr/>
          <p:nvPr/>
        </p:nvSpPr>
        <p:spPr>
          <a:xfrm>
            <a:off x="960120" y="19659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p:nvPr/>
        </p:nvSpPr>
        <p:spPr>
          <a:xfrm>
            <a:off x="1600200" y="1938528"/>
            <a:ext cx="4114800" cy="548640"/>
          </a:xfrm>
          <a:prstGeom prst="rect">
            <a:avLst/>
          </a:prstGeom>
          <a:noFill/>
          <a:ln/>
        </p:spPr>
        <p:txBody>
          <a:bodyPr wrap="square" lIns="0" tIns="0" rIns="0" bIns="0" rtlCol="0" anchor="t"/>
          <a:lstStyle/>
          <a:p>
            <a:pPr indent="0" marL="0">
              <a:lnSpc>
                <a:spcPct val="105000"/>
              </a:lnSpc>
              <a:buNone/>
            </a:pPr>
            <a:r>
              <a:rPr lang="en-US" sz="1450" b="1" dirty="0">
                <a:solidFill>
                  <a:srgbClr val="1A1A1A"/>
                </a:solidFill>
                <a:latin typeface="Cambria" pitchFamily="34" charset="0"/>
                <a:ea typeface="Cambria" pitchFamily="34" charset="-122"/>
                <a:cs typeface="Cambria" pitchFamily="34" charset="-120"/>
              </a:rPr>
              <a:t>City-specific strategy: Volume vs. Value</a:t>
            </a:r>
            <a:endParaRPr lang="en-US" sz="1450" dirty="0"/>
          </a:p>
        </p:txBody>
      </p:sp>
      <p:sp>
        <p:nvSpPr>
          <p:cNvPr id="11" name="Text 8"/>
          <p:cNvSpPr/>
          <p:nvPr/>
        </p:nvSpPr>
        <p:spPr>
          <a:xfrm>
            <a:off x="1005840" y="2606040"/>
            <a:ext cx="4617720" cy="7315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Run acquisition-focused campaigns in City B and premium/personalized offers in City C rather than one national campaign.</a:t>
            </a:r>
            <a:endParaRPr lang="en-US" sz="1150" dirty="0"/>
          </a:p>
        </p:txBody>
      </p:sp>
      <p:sp>
        <p:nvSpPr>
          <p:cNvPr id="12" name="Text 9"/>
          <p:cNvSpPr/>
          <p:nvPr/>
        </p:nvSpPr>
        <p:spPr>
          <a:xfrm>
            <a:off x="1005840" y="3337560"/>
            <a:ext cx="4617720" cy="411480"/>
          </a:xfrm>
          <a:prstGeom prst="rect">
            <a:avLst/>
          </a:prstGeom>
          <a:noFill/>
          <a:ln/>
        </p:spPr>
        <p:txBody>
          <a:bodyPr wrap="square" lIns="0" tIns="0" rIns="0" bIns="0" rtlCol="0" anchor="t"/>
          <a:lstStyle/>
          <a:p>
            <a:pPr indent="0" marL="0">
              <a:lnSpc>
                <a:spcPct val="110000"/>
              </a:lnSpc>
              <a:buNone/>
            </a:pPr>
            <a:r>
              <a:rPr lang="en-US" sz="1050" b="1" dirty="0">
                <a:solidFill>
                  <a:srgbClr val="D7263D"/>
                </a:solidFill>
                <a:latin typeface="Calibri" pitchFamily="34" charset="0"/>
                <a:ea typeface="Calibri" pitchFamily="34" charset="-122"/>
                <a:cs typeface="Calibri" pitchFamily="34" charset="-120"/>
              </a:rPr>
              <a:t>Expected impact:  </a:t>
            </a:r>
            <a:pPr indent="0" marL="0">
              <a:lnSpc>
                <a:spcPct val="110000"/>
              </a:lnSpc>
              <a:buNone/>
            </a:pPr>
            <a:r>
              <a:rPr lang="en-US" sz="1050" dirty="0">
                <a:solidFill>
                  <a:srgbClr val="1A1A1A"/>
                </a:solidFill>
                <a:latin typeface="Calibri" pitchFamily="34" charset="0"/>
                <a:ea typeface="Calibri" pitchFamily="34" charset="-122"/>
                <a:cs typeface="Calibri" pitchFamily="34" charset="-120"/>
              </a:rPr>
              <a:t>Higher ROI per marketing rupee spent.</a:t>
            </a:r>
            <a:endParaRPr lang="en-US" sz="1050" dirty="0"/>
          </a:p>
        </p:txBody>
      </p:sp>
      <p:sp>
        <p:nvSpPr>
          <p:cNvPr id="13" name="Shape 10"/>
          <p:cNvSpPr/>
          <p:nvPr/>
        </p:nvSpPr>
        <p:spPr>
          <a:xfrm>
            <a:off x="6263640" y="1737360"/>
            <a:ext cx="5166360" cy="2103120"/>
          </a:xfrm>
          <a:prstGeom prst="roundRect">
            <a:avLst>
              <a:gd name="adj" fmla="val 3478"/>
            </a:avLst>
          </a:prstGeom>
          <a:solidFill>
            <a:srgbClr val="F7F5F3"/>
          </a:solidFill>
          <a:ln/>
        </p:spPr>
      </p:sp>
      <p:sp>
        <p:nvSpPr>
          <p:cNvPr id="14" name="Shape 11"/>
          <p:cNvSpPr/>
          <p:nvPr/>
        </p:nvSpPr>
        <p:spPr>
          <a:xfrm>
            <a:off x="6492240" y="1965960"/>
            <a:ext cx="457200" cy="457200"/>
          </a:xfrm>
          <a:prstGeom prst="ellipse">
            <a:avLst/>
          </a:prstGeom>
          <a:solidFill>
            <a:srgbClr val="D7263D"/>
          </a:solidFill>
          <a:ln/>
        </p:spPr>
      </p:sp>
      <p:sp>
        <p:nvSpPr>
          <p:cNvPr id="15" name="Text 12"/>
          <p:cNvSpPr/>
          <p:nvPr/>
        </p:nvSpPr>
        <p:spPr>
          <a:xfrm>
            <a:off x="6492240" y="19659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3"/>
          <p:cNvSpPr/>
          <p:nvPr/>
        </p:nvSpPr>
        <p:spPr>
          <a:xfrm>
            <a:off x="7132320" y="1938528"/>
            <a:ext cx="4114800" cy="548640"/>
          </a:xfrm>
          <a:prstGeom prst="rect">
            <a:avLst/>
          </a:prstGeom>
          <a:noFill/>
          <a:ln/>
        </p:spPr>
        <p:txBody>
          <a:bodyPr wrap="square" lIns="0" tIns="0" rIns="0" bIns="0" rtlCol="0" anchor="t"/>
          <a:lstStyle/>
          <a:p>
            <a:pPr indent="0" marL="0">
              <a:lnSpc>
                <a:spcPct val="105000"/>
              </a:lnSpc>
              <a:buNone/>
            </a:pPr>
            <a:r>
              <a:rPr lang="en-US" sz="1450" b="1" dirty="0">
                <a:solidFill>
                  <a:srgbClr val="1A1A1A"/>
                </a:solidFill>
                <a:latin typeface="Cambria" pitchFamily="34" charset="0"/>
                <a:ea typeface="Cambria" pitchFamily="34" charset="-122"/>
                <a:cs typeface="Cambria" pitchFamily="34" charset="-120"/>
              </a:rPr>
              <a:t>Tiered loyalty program for High-Value Loyal customers</a:t>
            </a:r>
            <a:endParaRPr lang="en-US" sz="1450" dirty="0"/>
          </a:p>
        </p:txBody>
      </p:sp>
      <p:sp>
        <p:nvSpPr>
          <p:cNvPr id="17" name="Text 14"/>
          <p:cNvSpPr/>
          <p:nvPr/>
        </p:nvSpPr>
        <p:spPr>
          <a:xfrm>
            <a:off x="6537960" y="2606040"/>
            <a:ext cx="4617720" cy="7315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Build exclusive perks (early access, bundles) around the 35.7% segment that already drives the most repeat, high-value engagement.</a:t>
            </a:r>
            <a:endParaRPr lang="en-US" sz="1150" dirty="0"/>
          </a:p>
        </p:txBody>
      </p:sp>
      <p:sp>
        <p:nvSpPr>
          <p:cNvPr id="18" name="Text 15"/>
          <p:cNvSpPr/>
          <p:nvPr/>
        </p:nvSpPr>
        <p:spPr>
          <a:xfrm>
            <a:off x="6537960" y="3337560"/>
            <a:ext cx="4617720" cy="411480"/>
          </a:xfrm>
          <a:prstGeom prst="rect">
            <a:avLst/>
          </a:prstGeom>
          <a:noFill/>
          <a:ln/>
        </p:spPr>
        <p:txBody>
          <a:bodyPr wrap="square" lIns="0" tIns="0" rIns="0" bIns="0" rtlCol="0" anchor="t"/>
          <a:lstStyle/>
          <a:p>
            <a:pPr indent="0" marL="0">
              <a:lnSpc>
                <a:spcPct val="110000"/>
              </a:lnSpc>
              <a:buNone/>
            </a:pPr>
            <a:r>
              <a:rPr lang="en-US" sz="1050" b="1" dirty="0">
                <a:solidFill>
                  <a:srgbClr val="D7263D"/>
                </a:solidFill>
                <a:latin typeface="Calibri" pitchFamily="34" charset="0"/>
                <a:ea typeface="Calibri" pitchFamily="34" charset="-122"/>
                <a:cs typeface="Calibri" pitchFamily="34" charset="-120"/>
              </a:rPr>
              <a:t>Expected impact:  </a:t>
            </a:r>
            <a:pPr indent="0" marL="0">
              <a:lnSpc>
                <a:spcPct val="110000"/>
              </a:lnSpc>
              <a:buNone/>
            </a:pPr>
            <a:r>
              <a:rPr lang="en-US" sz="1050" dirty="0">
                <a:solidFill>
                  <a:srgbClr val="1A1A1A"/>
                </a:solidFill>
                <a:latin typeface="Calibri" pitchFamily="34" charset="0"/>
                <a:ea typeface="Calibri" pitchFamily="34" charset="-122"/>
                <a:cs typeface="Calibri" pitchFamily="34" charset="-120"/>
              </a:rPr>
              <a:t>Stronger retention &amp; lifetime value.</a:t>
            </a:r>
            <a:endParaRPr lang="en-US" sz="1050" dirty="0"/>
          </a:p>
        </p:txBody>
      </p:sp>
      <p:sp>
        <p:nvSpPr>
          <p:cNvPr id="19" name="Shape 16"/>
          <p:cNvSpPr/>
          <p:nvPr/>
        </p:nvSpPr>
        <p:spPr>
          <a:xfrm>
            <a:off x="731520" y="4069080"/>
            <a:ext cx="5166360" cy="2103120"/>
          </a:xfrm>
          <a:prstGeom prst="roundRect">
            <a:avLst>
              <a:gd name="adj" fmla="val 3478"/>
            </a:avLst>
          </a:prstGeom>
          <a:solidFill>
            <a:srgbClr val="F7F5F3"/>
          </a:solidFill>
          <a:ln/>
        </p:spPr>
      </p:sp>
      <p:sp>
        <p:nvSpPr>
          <p:cNvPr id="20" name="Shape 17"/>
          <p:cNvSpPr/>
          <p:nvPr/>
        </p:nvSpPr>
        <p:spPr>
          <a:xfrm>
            <a:off x="960120" y="4297680"/>
            <a:ext cx="457200" cy="457200"/>
          </a:xfrm>
          <a:prstGeom prst="ellipse">
            <a:avLst/>
          </a:prstGeom>
          <a:solidFill>
            <a:srgbClr val="D7263D"/>
          </a:solidFill>
          <a:ln/>
        </p:spPr>
      </p:sp>
      <p:sp>
        <p:nvSpPr>
          <p:cNvPr id="21" name="Text 18"/>
          <p:cNvSpPr/>
          <p:nvPr/>
        </p:nvSpPr>
        <p:spPr>
          <a:xfrm>
            <a:off x="960120" y="42976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9"/>
          <p:cNvSpPr/>
          <p:nvPr/>
        </p:nvSpPr>
        <p:spPr>
          <a:xfrm>
            <a:off x="1600200" y="4270248"/>
            <a:ext cx="4114800" cy="548640"/>
          </a:xfrm>
          <a:prstGeom prst="rect">
            <a:avLst/>
          </a:prstGeom>
          <a:noFill/>
          <a:ln/>
        </p:spPr>
        <p:txBody>
          <a:bodyPr wrap="square" lIns="0" tIns="0" rIns="0" bIns="0" rtlCol="0" anchor="t"/>
          <a:lstStyle/>
          <a:p>
            <a:pPr indent="0" marL="0">
              <a:lnSpc>
                <a:spcPct val="105000"/>
              </a:lnSpc>
              <a:buNone/>
            </a:pPr>
            <a:r>
              <a:rPr lang="en-US" sz="1450" b="1" dirty="0">
                <a:solidFill>
                  <a:srgbClr val="1A1A1A"/>
                </a:solidFill>
                <a:latin typeface="Cambria" pitchFamily="34" charset="0"/>
                <a:ea typeface="Cambria" pitchFamily="34" charset="-122"/>
                <a:cs typeface="Cambria" pitchFamily="34" charset="-120"/>
              </a:rPr>
              <a:t>Concentrate inventory on hero categories &amp; products</a:t>
            </a:r>
            <a:endParaRPr lang="en-US" sz="1450" dirty="0"/>
          </a:p>
        </p:txBody>
      </p:sp>
      <p:sp>
        <p:nvSpPr>
          <p:cNvPr id="23" name="Text 20"/>
          <p:cNvSpPr/>
          <p:nvPr/>
        </p:nvSpPr>
        <p:spPr>
          <a:xfrm>
            <a:off x="1005840" y="4937760"/>
            <a:ext cx="4617720" cy="7315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Prioritize stock and promotional spend on Categories 1, 5, 8 and top SKUs like P00025442 to avoid stockouts during peak demand.</a:t>
            </a:r>
            <a:endParaRPr lang="en-US" sz="1150" dirty="0"/>
          </a:p>
        </p:txBody>
      </p:sp>
      <p:sp>
        <p:nvSpPr>
          <p:cNvPr id="24" name="Text 21"/>
          <p:cNvSpPr/>
          <p:nvPr/>
        </p:nvSpPr>
        <p:spPr>
          <a:xfrm>
            <a:off x="1005840" y="5669280"/>
            <a:ext cx="4617720" cy="411480"/>
          </a:xfrm>
          <a:prstGeom prst="rect">
            <a:avLst/>
          </a:prstGeom>
          <a:noFill/>
          <a:ln/>
        </p:spPr>
        <p:txBody>
          <a:bodyPr wrap="square" lIns="0" tIns="0" rIns="0" bIns="0" rtlCol="0" anchor="t"/>
          <a:lstStyle/>
          <a:p>
            <a:pPr indent="0" marL="0">
              <a:lnSpc>
                <a:spcPct val="110000"/>
              </a:lnSpc>
              <a:buNone/>
            </a:pPr>
            <a:r>
              <a:rPr lang="en-US" sz="1050" b="1" dirty="0">
                <a:solidFill>
                  <a:srgbClr val="D7263D"/>
                </a:solidFill>
                <a:latin typeface="Calibri" pitchFamily="34" charset="0"/>
                <a:ea typeface="Calibri" pitchFamily="34" charset="-122"/>
                <a:cs typeface="Calibri" pitchFamily="34" charset="-120"/>
              </a:rPr>
              <a:t>Expected impact:  </a:t>
            </a:r>
            <a:pPr indent="0" marL="0">
              <a:lnSpc>
                <a:spcPct val="110000"/>
              </a:lnSpc>
              <a:buNone/>
            </a:pPr>
            <a:r>
              <a:rPr lang="en-US" sz="1050" dirty="0">
                <a:solidFill>
                  <a:srgbClr val="1A1A1A"/>
                </a:solidFill>
                <a:latin typeface="Calibri" pitchFamily="34" charset="0"/>
                <a:ea typeface="Calibri" pitchFamily="34" charset="-122"/>
                <a:cs typeface="Calibri" pitchFamily="34" charset="-120"/>
              </a:rPr>
              <a:t>Fewer stockouts, larger basket size.</a:t>
            </a:r>
            <a:endParaRPr lang="en-US" sz="1050" dirty="0"/>
          </a:p>
        </p:txBody>
      </p:sp>
      <p:sp>
        <p:nvSpPr>
          <p:cNvPr id="25" name="Shape 22"/>
          <p:cNvSpPr/>
          <p:nvPr/>
        </p:nvSpPr>
        <p:spPr>
          <a:xfrm>
            <a:off x="6263640" y="4069080"/>
            <a:ext cx="5166360" cy="2103120"/>
          </a:xfrm>
          <a:prstGeom prst="roundRect">
            <a:avLst>
              <a:gd name="adj" fmla="val 3478"/>
            </a:avLst>
          </a:prstGeom>
          <a:solidFill>
            <a:srgbClr val="F7F5F3"/>
          </a:solidFill>
          <a:ln/>
        </p:spPr>
      </p:sp>
      <p:sp>
        <p:nvSpPr>
          <p:cNvPr id="26" name="Shape 23"/>
          <p:cNvSpPr/>
          <p:nvPr/>
        </p:nvSpPr>
        <p:spPr>
          <a:xfrm>
            <a:off x="6492240" y="4297680"/>
            <a:ext cx="457200" cy="457200"/>
          </a:xfrm>
          <a:prstGeom prst="ellipse">
            <a:avLst/>
          </a:prstGeom>
          <a:solidFill>
            <a:srgbClr val="D7263D"/>
          </a:solidFill>
          <a:ln/>
        </p:spPr>
      </p:sp>
      <p:sp>
        <p:nvSpPr>
          <p:cNvPr id="27" name="Text 24"/>
          <p:cNvSpPr/>
          <p:nvPr/>
        </p:nvSpPr>
        <p:spPr>
          <a:xfrm>
            <a:off x="6492240" y="42976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5"/>
          <p:cNvSpPr/>
          <p:nvPr/>
        </p:nvSpPr>
        <p:spPr>
          <a:xfrm>
            <a:off x="7132320" y="4270248"/>
            <a:ext cx="4114800" cy="548640"/>
          </a:xfrm>
          <a:prstGeom prst="rect">
            <a:avLst/>
          </a:prstGeom>
          <a:noFill/>
          <a:ln/>
        </p:spPr>
        <p:txBody>
          <a:bodyPr wrap="square" lIns="0" tIns="0" rIns="0" bIns="0" rtlCol="0" anchor="t"/>
          <a:lstStyle/>
          <a:p>
            <a:pPr indent="0" marL="0">
              <a:lnSpc>
                <a:spcPct val="105000"/>
              </a:lnSpc>
              <a:buNone/>
            </a:pPr>
            <a:r>
              <a:rPr lang="en-US" sz="1450" b="1" dirty="0">
                <a:solidFill>
                  <a:srgbClr val="1A1A1A"/>
                </a:solidFill>
                <a:latin typeface="Cambria" pitchFamily="34" charset="0"/>
                <a:ea typeface="Cambria" pitchFamily="34" charset="-122"/>
                <a:cs typeface="Cambria" pitchFamily="34" charset="-120"/>
              </a:rPr>
              <a:t>Reallocate budget away from marital-status targeting</a:t>
            </a:r>
            <a:endParaRPr lang="en-US" sz="1450" dirty="0"/>
          </a:p>
        </p:txBody>
      </p:sp>
      <p:sp>
        <p:nvSpPr>
          <p:cNvPr id="29" name="Text 26"/>
          <p:cNvSpPr/>
          <p:nvPr/>
        </p:nvSpPr>
        <p:spPr>
          <a:xfrm>
            <a:off x="6537960" y="4937760"/>
            <a:ext cx="4617720" cy="731520"/>
          </a:xfrm>
          <a:prstGeom prst="rect">
            <a:avLst/>
          </a:prstGeom>
          <a:noFill/>
          <a:ln/>
        </p:spPr>
        <p:txBody>
          <a:bodyPr wrap="square" lIns="0" tIns="0" rIns="0" bIns="0" rtlCol="0" anchor="t"/>
          <a:lstStyle/>
          <a:p>
            <a:pPr indent="0" marL="0">
              <a:lnSpc>
                <a:spcPct val="115000"/>
              </a:lnSpc>
              <a:buNone/>
            </a:pPr>
            <a:r>
              <a:rPr lang="en-US" sz="1150" dirty="0">
                <a:solidFill>
                  <a:srgbClr val="6E6E6E"/>
                </a:solidFill>
                <a:latin typeface="Calibri" pitchFamily="34" charset="0"/>
                <a:ea typeface="Calibri" pitchFamily="34" charset="-122"/>
                <a:cs typeface="Calibri" pitchFamily="34" charset="-120"/>
              </a:rPr>
              <a:t>Shift spend toward gender-based and city-based targeting, the two variables with proven statistical and practical significance.</a:t>
            </a:r>
            <a:endParaRPr lang="en-US" sz="1150" dirty="0"/>
          </a:p>
        </p:txBody>
      </p:sp>
      <p:sp>
        <p:nvSpPr>
          <p:cNvPr id="30" name="Text 27"/>
          <p:cNvSpPr/>
          <p:nvPr/>
        </p:nvSpPr>
        <p:spPr>
          <a:xfrm>
            <a:off x="6537960" y="5669280"/>
            <a:ext cx="4617720" cy="411480"/>
          </a:xfrm>
          <a:prstGeom prst="rect">
            <a:avLst/>
          </a:prstGeom>
          <a:noFill/>
          <a:ln/>
        </p:spPr>
        <p:txBody>
          <a:bodyPr wrap="square" lIns="0" tIns="0" rIns="0" bIns="0" rtlCol="0" anchor="t"/>
          <a:lstStyle/>
          <a:p>
            <a:pPr indent="0" marL="0">
              <a:lnSpc>
                <a:spcPct val="110000"/>
              </a:lnSpc>
              <a:buNone/>
            </a:pPr>
            <a:r>
              <a:rPr lang="en-US" sz="1050" b="1" dirty="0">
                <a:solidFill>
                  <a:srgbClr val="D7263D"/>
                </a:solidFill>
                <a:latin typeface="Calibri" pitchFamily="34" charset="0"/>
                <a:ea typeface="Calibri" pitchFamily="34" charset="-122"/>
                <a:cs typeface="Calibri" pitchFamily="34" charset="-120"/>
              </a:rPr>
              <a:t>Expected impact:  </a:t>
            </a:r>
            <a:pPr indent="0" marL="0">
              <a:lnSpc>
                <a:spcPct val="110000"/>
              </a:lnSpc>
              <a:buNone/>
            </a:pPr>
            <a:r>
              <a:rPr lang="en-US" sz="1050" dirty="0">
                <a:solidFill>
                  <a:srgbClr val="1A1A1A"/>
                </a:solidFill>
                <a:latin typeface="Calibri" pitchFamily="34" charset="0"/>
                <a:ea typeface="Calibri" pitchFamily="34" charset="-122"/>
                <a:cs typeface="Calibri" pitchFamily="34" charset="-120"/>
              </a:rPr>
              <a:t>More efficient campaign spend.</a:t>
            </a:r>
            <a:endParaRPr lang="en-US" sz="1050" dirty="0"/>
          </a:p>
        </p:txBody>
      </p:sp>
      <p:sp>
        <p:nvSpPr>
          <p:cNvPr id="31" name="Text 28"/>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212"/>
        </a:solidFill>
      </p:bgPr>
    </p:bg>
    <p:spTree>
      <p:nvGrpSpPr>
        <p:cNvPr id="1" name=""/>
        <p:cNvGrpSpPr/>
        <p:nvPr/>
      </p:nvGrpSpPr>
      <p:grpSpPr>
        <a:xfrm>
          <a:off x="0" y="0"/>
          <a:ext cx="0" cy="0"/>
          <a:chOff x="0" y="0"/>
          <a:chExt cx="0" cy="0"/>
        </a:xfrm>
      </p:grpSpPr>
      <p:sp>
        <p:nvSpPr>
          <p:cNvPr id="2" name="Shape 0"/>
          <p:cNvSpPr/>
          <p:nvPr/>
        </p:nvSpPr>
        <p:spPr>
          <a:xfrm>
            <a:off x="-2377440" y="-2377440"/>
            <a:ext cx="5669280" cy="5669280"/>
          </a:xfrm>
          <a:prstGeom prst="ellipse">
            <a:avLst/>
          </a:prstGeom>
          <a:solidFill>
            <a:srgbClr val="D7263D">
              <a:alpha val="16000"/>
            </a:srgbClr>
          </a:solidFill>
          <a:ln/>
        </p:spPr>
      </p:sp>
      <p:sp>
        <p:nvSpPr>
          <p:cNvPr id="3" name="Shape 1"/>
          <p:cNvSpPr/>
          <p:nvPr/>
        </p:nvSpPr>
        <p:spPr>
          <a:xfrm>
            <a:off x="9509760" y="4206240"/>
            <a:ext cx="4754880" cy="4754880"/>
          </a:xfrm>
          <a:prstGeom prst="ellipse">
            <a:avLst/>
          </a:prstGeom>
          <a:solidFill>
            <a:srgbClr val="D7263D">
              <a:alpha val="12000"/>
            </a:srgbClr>
          </a:solidFill>
          <a:ln/>
        </p:spPr>
      </p:sp>
      <p:sp>
        <p:nvSpPr>
          <p:cNvPr id="4" name="Shape 2"/>
          <p:cNvSpPr/>
          <p:nvPr/>
        </p:nvSpPr>
        <p:spPr>
          <a:xfrm>
            <a:off x="822960" y="822960"/>
            <a:ext cx="685800" cy="685800"/>
          </a:xfrm>
          <a:prstGeom prst="ellipse">
            <a:avLst/>
          </a:prstGeom>
          <a:solidFill>
            <a:srgbClr val="D7263D"/>
          </a:solidFill>
          <a:ln/>
        </p:spPr>
      </p:sp>
      <p:pic>
        <p:nvPicPr>
          <p:cNvPr id="5" name="Image 0" descr="img/ic_flag.png">    </p:cNvPr>
          <p:cNvPicPr>
            <a:picLocks noChangeAspect="1"/>
          </p:cNvPicPr>
          <p:nvPr/>
        </p:nvPicPr>
        <p:blipFill>
          <a:blip r:embed="rId1"/>
          <a:stretch>
            <a:fillRect/>
          </a:stretch>
        </p:blipFill>
        <p:spPr>
          <a:xfrm>
            <a:off x="905256" y="905256"/>
            <a:ext cx="521208" cy="521208"/>
          </a:xfrm>
          <a:prstGeom prst="rect">
            <a:avLst/>
          </a:prstGeom>
        </p:spPr>
      </p:pic>
      <p:sp>
        <p:nvSpPr>
          <p:cNvPr id="6" name="Text 3"/>
          <p:cNvSpPr/>
          <p:nvPr/>
        </p:nvSpPr>
        <p:spPr>
          <a:xfrm>
            <a:off x="1691640" y="896112"/>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7" name="Text 4"/>
          <p:cNvSpPr/>
          <p:nvPr/>
        </p:nvSpPr>
        <p:spPr>
          <a:xfrm>
            <a:off x="822960" y="2011680"/>
            <a:ext cx="10515600" cy="1005840"/>
          </a:xfrm>
          <a:prstGeom prst="rect">
            <a:avLst/>
          </a:prstGeom>
          <a:noFill/>
          <a:ln/>
        </p:spPr>
        <p:txBody>
          <a:bodyPr wrap="square" lIns="0" tIns="0" rIns="0" bIns="0" rtlCol="0" anchor="ctr"/>
          <a:lstStyle/>
          <a:p>
            <a:pPr indent="0" marL="0">
              <a:lnSpc>
                <a:spcPct val="125000"/>
              </a:lnSpc>
              <a:buNone/>
            </a:pPr>
            <a:r>
              <a:rPr lang="en-US" sz="1500" dirty="0">
                <a:solidFill>
                  <a:srgbClr val="D9D9D9"/>
                </a:solidFill>
                <a:latin typeface="Calibri" pitchFamily="34" charset="0"/>
                <a:ea typeface="Calibri" pitchFamily="34" charset="-122"/>
                <a:cs typeface="Calibri" pitchFamily="34" charset="-120"/>
              </a:rPr>
              <a:t>This project carried 550,068 raw transactions through a complete analytics pipeline — Excel validation, a normalized MySQL schema, Python-based statistical testing, and two interactive Power BI dashboards — to produce insights a retailer can act on immediately.</a:t>
            </a:r>
            <a:endParaRPr lang="en-US" sz="1500" dirty="0"/>
          </a:p>
        </p:txBody>
      </p:sp>
      <p:sp>
        <p:nvSpPr>
          <p:cNvPr id="8" name="Text 5"/>
          <p:cNvSpPr/>
          <p:nvPr/>
        </p:nvSpPr>
        <p:spPr>
          <a:xfrm>
            <a:off x="822960" y="3200400"/>
            <a:ext cx="10332720" cy="201168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City Category and Gender are the confirmed, statistically validated drivers of spend</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An exceptionally loyal customer base with an untapped high-value segment (35.7%)</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A small set of hero categories and products carrying disproportionate revenue</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Four concrete recommendations translating analysis directly into retail strategy</a:t>
            </a:r>
            <a:endParaRPr lang="en-US" sz="1400" dirty="0"/>
          </a:p>
        </p:txBody>
      </p:sp>
      <p:sp>
        <p:nvSpPr>
          <p:cNvPr id="9" name="Shape 6"/>
          <p:cNvSpPr/>
          <p:nvPr/>
        </p:nvSpPr>
        <p:spPr>
          <a:xfrm>
            <a:off x="822960" y="5852160"/>
            <a:ext cx="1005840" cy="0"/>
          </a:xfrm>
          <a:prstGeom prst="line">
            <a:avLst/>
          </a:prstGeom>
          <a:noFill/>
          <a:ln w="38100">
            <a:solidFill>
              <a:srgbClr val="D7263D"/>
            </a:solidFill>
            <a:prstDash val="solid"/>
          </a:ln>
        </p:spPr>
      </p:sp>
      <p:sp>
        <p:nvSpPr>
          <p:cNvPr id="10" name="Text 7"/>
          <p:cNvSpPr/>
          <p:nvPr/>
        </p:nvSpPr>
        <p:spPr>
          <a:xfrm>
            <a:off x="822960" y="5989320"/>
            <a:ext cx="5486400" cy="45720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Thank you.</a:t>
            </a:r>
            <a:endParaRPr lang="en-US" sz="1800" dirty="0"/>
          </a:p>
        </p:txBody>
      </p:sp>
      <p:sp>
        <p:nvSpPr>
          <p:cNvPr id="11" name="Text 8"/>
          <p:cNvSpPr/>
          <p:nvPr/>
        </p:nvSpPr>
        <p:spPr>
          <a:xfrm>
            <a:off x="11612880" y="6473952"/>
            <a:ext cx="457200" cy="274320"/>
          </a:xfrm>
          <a:prstGeom prst="rect">
            <a:avLst/>
          </a:prstGeom>
          <a:noFill/>
          <a:ln/>
        </p:spPr>
        <p:txBody>
          <a:bodyPr wrap="square" lIns="0" tIns="0" rIns="0" bIns="0"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2026-09-14T11:50:51Z</dcterms:created>
  <dcterms:modified xsi:type="dcterms:W3CDTF">2026-09-14T11:50:51Z</dcterms:modified>
</cp:coreProperties>
</file>